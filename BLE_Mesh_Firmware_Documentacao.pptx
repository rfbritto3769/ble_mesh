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  <p:sldMasterId id="2147483772" r:id="rId2"/>
    <p:sldMasterId id="2147483785" r:id="rId3"/>
    <p:sldMasterId id="2147483816" r:id="rId4"/>
    <p:sldMasterId id="2147483857" r:id="rId5"/>
  </p:sldMasterIdLst>
  <p:notesMasterIdLst>
    <p:notesMasterId r:id="rId10"/>
  </p:notesMasterIdLst>
  <p:sldIdLst>
    <p:sldId id="5661" r:id="rId6"/>
    <p:sldId id="5662" r:id="rId9"/>
    <p:sldId id="5663" r:id="rId8"/>
    <p:sldId id="5664" r:id="rId7"/>
    <p:sldId id="5665" r:id="rId16"/>
    <p:sldId id="5666" r:id="rId17"/>
    <p:sldId id="5667" r:id="rId18"/>
    <p:sldId id="5668" r:id="rId19"/>
    <p:sldId id="5669" r:id="rId20"/>
    <p:sldId id="5670" r:id="rId21"/>
    <p:sldId id="5671" r:id="rId22"/>
    <p:sldId id="5672" r:id="rId23"/>
    <p:sldId id="5673" r:id="rId24"/>
    <p:sldId id="56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5355E7-07C8-002E-9CE9-4C0BF015A02B}" name="Reuel Laurente - A16695" initials="RA" userId="S::reuel.laurente@microchip.com::020a1976-242a-40ce-af0f-65439d115fb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5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4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8/10/relationships/authors" Target="authors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E3689"/>
                </a:solidFill>
                <a:latin typeface="Calibri"/>
              </a:rPr>
              <a:t>Tempo até MESH FORMED em todos os nós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Típico (s)</c:v>
                </c:pt>
              </c:strCache>
            </c:strRef>
          </c:tx>
          <c:spPr>
            <a:solidFill>
              <a:srgbClr val="0E3689"/>
            </a:solidFill>
          </c:spPr>
          <c:cat>
            <c:strRef>
              <c:f>Sheet1!$A$2:$A$5</c:f>
              <c:strCache>
                <c:ptCount val="4"/>
                <c:pt idx="0">
                  <c:v>5 nós</c:v>
                </c:pt>
                <c:pt idx="1">
                  <c:v>18 nós</c:v>
                </c:pt>
                <c:pt idx="2">
                  <c:v>50 nós</c:v>
                </c:pt>
                <c:pt idx="3">
                  <c:v>100 nós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40</c:v>
                </c:pt>
                <c:pt idx="2">
                  <c:v>75</c:v>
                </c:pt>
                <c:pt idx="3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Pior caso (s)</c:v>
                </c:pt>
              </c:strCache>
            </c:strRef>
          </c:tx>
          <c:spPr>
            <a:solidFill>
              <a:srgbClr val="FD7F20"/>
            </a:solidFill>
          </c:spPr>
          <c:cat>
            <c:strRef>
              <c:f>Sheet1!$A$2:$A$5</c:f>
              <c:strCache>
                <c:ptCount val="4"/>
                <c:pt idx="0">
                  <c:v>5 nós</c:v>
                </c:pt>
                <c:pt idx="1">
                  <c:v>18 nós</c:v>
                </c:pt>
                <c:pt idx="2">
                  <c:v>50 nós</c:v>
                </c:pt>
                <c:pt idx="3">
                  <c:v>100 nós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120</c:v>
                </c:pt>
                <c:pt idx="2">
                  <c:v>210</c:v>
                </c:pt>
                <c:pt idx="3">
                  <c:v>300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A0B0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6DE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33F89-B6DA-4EAC-8B4B-20937361933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D299C-5A08-4F32-A847-5E5C09EAB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0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395" y="2474260"/>
            <a:ext cx="6439132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3982" y="6331943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8423" y="3799832"/>
            <a:ext cx="7413328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6429" y="6123667"/>
            <a:ext cx="6421522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6428" y="5763413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9" y="5139766"/>
            <a:ext cx="1630845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69" y="2635936"/>
            <a:ext cx="3585645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7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1495" y="2034289"/>
            <a:ext cx="791122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1495" y="3824301"/>
            <a:ext cx="791122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4250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870" y="923074"/>
            <a:ext cx="1140363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FD760F-7C5E-4E44-B69C-EB85837D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92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403852"/>
            <a:ext cx="1140363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814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626375"/>
            <a:ext cx="1140363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D67FA37-0073-AF47-8F1C-C046BC1C2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FA29F-D3D1-B743-BF1F-4F74E9BFBE96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D98CAA-53AB-CA40-BB99-AC8568C9C965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93471D4-F779-B244-9C40-C480DA421F1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653C1-7F81-CF47-B063-A8C4BC3DF14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3EB453-955B-B940-9782-A882942161A9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184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929270"/>
            <a:ext cx="5507280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929270"/>
            <a:ext cx="5507280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8986A39-4957-2843-AFDE-E6160A6C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C2564-89A5-B045-B11D-EC2B6C4EF263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6810D8-1F1D-2E44-98D2-9655BDEBA9A9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5B9D91C-B319-6740-B041-91E92A828C26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D45905-001C-3245-A3FD-ABDBA73B7BBC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045E37-2F57-AB4C-8037-7C0BF70F4E15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600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546" y="1408545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1408546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D0980E6-4C36-ED4A-BBAC-FCB3FD47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4F5BD-A8B2-8A43-8F9D-27796637426D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AB45CE-9A16-9D42-B335-40FCBA3C7672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A8F7AB5-BFE5-D543-9ED3-50EAB714655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272549-DB7B-3E4B-A9DF-41399001725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593CC7-18E5-1E4B-B493-BCCB1352C41B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22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923076"/>
            <a:ext cx="5475995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6855" y="941660"/>
            <a:ext cx="5389033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561175"/>
            <a:ext cx="5475993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561176"/>
            <a:ext cx="5389033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884F7A06-CF40-064F-B9BE-F69B2DFE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839D-F08B-6B46-82B5-51DE2326DF5F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C1BBAD-8C56-A04F-899C-5B4188A5F5D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25B9A85-EE0A-E54F-AA18-41FF007C6B2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AC621-04E4-3B47-A37C-31D012718AE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66AC5E-3B4D-524B-B3AE-A5267FAD281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253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381005"/>
            <a:ext cx="5475995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6855" y="1381003"/>
            <a:ext cx="5389033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8806" y="6490881"/>
            <a:ext cx="129243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988634"/>
            <a:ext cx="547599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988634"/>
            <a:ext cx="538903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099EDC09-5657-6C4E-AE82-350208BA5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DC922F-64A0-A245-9B54-7182667660D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28C046-B8FC-994F-85A4-8FD25DF19D2F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B520446-FD47-794F-A313-0EC6DBF6114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B0F66-0524-644B-A3CD-BA2A1489128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5BC8B-986D-8044-8033-3156B5F78D3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806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4FF79-E97B-4A45-8531-09115531EF4A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C4752-EFF3-2B44-8E4B-F4DEFD9A25AA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3BFC65E3-DBEB-1842-AA6D-2998A3A3FD5B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21974-58F0-B847-85B6-BB315041D59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98491-2152-B244-BD39-4FE185E36846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2335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29116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CCBDF1D-727A-8D40-8A82-92589DBB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604027-1BF3-C14F-877E-5C7EE39F69C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4F8B5-2138-234E-903C-B35966BCD11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9AB5E9E-CCD6-9040-9CA1-3DCB3C4DE5FC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94146-079F-A945-B1E9-105CEE8A4D91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A5633-2AD4-2D44-AC80-6A32A00CAC6A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9135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025A1E1-D99B-A04E-A12E-D4E8E63C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8A96F-9EB8-7740-A265-0BBDA7FB1BFC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354E03-A149-934A-8EE2-DADBA3C644C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7A855CC-F7C0-7640-82CB-E23B5A29FE53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3E9907-5B53-D94D-B91B-5D80BFCB4C3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318FC-FB83-DD43-9569-4DB052814862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4976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118BFB3-EE05-1BAF-7D02-8FDEE67884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893"/>
            <a:ext cx="12193583" cy="68571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75537" y="4053808"/>
            <a:ext cx="6439132" cy="996522"/>
          </a:xfrm>
          <a:ln>
            <a:noFill/>
          </a:ln>
        </p:spPr>
        <p:txBody>
          <a:bodyPr anchor="b" anchorCtr="0"/>
          <a:lstStyle>
            <a:lvl1pPr algn="r">
              <a:defRPr sz="3600">
                <a:solidFill>
                  <a:srgbClr val="0E3689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68379" y="5108976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1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693232-FD03-9669-A3C9-C9A8D09DBE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73605" y="6265576"/>
            <a:ext cx="2132570" cy="49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56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BADC75-4EA8-85A8-F69E-9F67FE8B7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894"/>
            <a:ext cx="12191994" cy="68562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81376" y="2034289"/>
            <a:ext cx="6341346" cy="1591386"/>
          </a:xfrm>
        </p:spPr>
        <p:txBody>
          <a:bodyPr anchor="b" anchorCtr="0"/>
          <a:lstStyle>
            <a:lvl1pPr algn="r">
              <a:defRPr sz="40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81375" y="3625676"/>
            <a:ext cx="6341347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30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3371120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870" y="923074"/>
            <a:ext cx="1140363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FD760F-7C5E-4E44-B69C-EB85837D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1462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00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403852"/>
            <a:ext cx="1140363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8971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626375"/>
            <a:ext cx="1140363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D67FA37-0073-AF47-8F1C-C046BC1C2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FA29F-D3D1-B743-BF1F-4F74E9BFBE96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D98CAA-53AB-CA40-BB99-AC8568C9C965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93471D4-F779-B244-9C40-C480DA421F1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653C1-7F81-CF47-B063-A8C4BC3DF14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3EB453-955B-B940-9782-A882942161A9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37328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929270"/>
            <a:ext cx="5507280" cy="5374679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929270"/>
            <a:ext cx="5507280" cy="5374678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8986A39-4957-2843-AFDE-E6160A6C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C2564-89A5-B045-B11D-EC2B6C4EF263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6810D8-1F1D-2E44-98D2-9655BDEBA9A9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5B9D91C-B319-6740-B041-91E92A828C26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D45905-001C-3245-A3FD-ABDBA73B7BBC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045E37-2F57-AB4C-8037-7C0BF70F4E15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86628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00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546" y="1408545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1408546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D0980E6-4C36-ED4A-BBAC-FCB3FD47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4F5BD-A8B2-8A43-8F9D-27796637426D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AB45CE-9A16-9D42-B335-40FCBA3C7672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A8F7AB5-BFE5-D543-9ED3-50EAB714655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272549-DB7B-3E4B-A9DF-41399001725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593CC7-18E5-1E4B-B493-BCCB1352C41B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4847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923076"/>
            <a:ext cx="5475995" cy="56771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0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6855" y="941660"/>
            <a:ext cx="5389033" cy="56771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30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561175"/>
            <a:ext cx="5475993" cy="4795020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561176"/>
            <a:ext cx="5389033" cy="4795019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884F7A06-CF40-064F-B9BE-F69B2DFE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839D-F08B-6B46-82B5-51DE2326DF5F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C1BBAD-8C56-A04F-899C-5B4188A5F5D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25B9A85-EE0A-E54F-AA18-41FF007C6B2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AC621-04E4-3B47-A37C-31D012718AE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66AC5E-3B4D-524B-B3AE-A5267FAD281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74718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381005"/>
            <a:ext cx="5475995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6855" y="1381003"/>
            <a:ext cx="5389033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0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8806" y="6490881"/>
            <a:ext cx="129243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988634"/>
            <a:ext cx="547599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988634"/>
            <a:ext cx="538903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 sz="3000"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099EDC09-5657-6C4E-AE82-350208BA5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DC922F-64A0-A245-9B54-7182667660D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28C046-B8FC-994F-85A4-8FD25DF19D2F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B520446-FD47-794F-A313-0EC6DBF6114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B0F66-0524-644B-A3CD-BA2A1489128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5BC8B-986D-8044-8033-3156B5F78D3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84857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4FF79-E97B-4A45-8531-09115531EF4A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C4752-EFF3-2B44-8E4B-F4DEFD9A25AA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3BFC65E3-DBEB-1842-AA6D-2998A3A3FD5B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21974-58F0-B847-85B6-BB315041D59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98491-2152-B244-BD39-4FE185E36846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63898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>
            <a:lvl1pPr>
              <a:defRPr sz="4000">
                <a:solidFill>
                  <a:srgbClr val="0E3689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29116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3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CCBDF1D-727A-8D40-8A82-92589DBB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604027-1BF3-C14F-877E-5C7EE39F69C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4F8B5-2138-234E-903C-B35966BCD11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9AB5E9E-CCD6-9040-9CA1-3DCB3C4DE5FC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94146-079F-A945-B1E9-105CEE8A4D91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A5633-2AD4-2D44-AC80-6A32A00CAC6A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155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025A1E1-D99B-A04E-A12E-D4E8E63C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8A96F-9EB8-7740-A265-0BBDA7FB1BFC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354E03-A149-934A-8EE2-DADBA3C644C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7A855CC-F7C0-7640-82CB-E23B5A29FE53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3E9907-5B53-D94D-B91B-5D80BFCB4C3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318FC-FB83-DD43-9569-4DB052814862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47917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395" y="2474260"/>
            <a:ext cx="6439132" cy="996523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3983" y="6331944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70353" y="3799833"/>
            <a:ext cx="7411398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6428" y="6123667"/>
            <a:ext cx="6421523" cy="252111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6428" y="5763412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8" y="5139767"/>
            <a:ext cx="1630845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70" y="2635937"/>
            <a:ext cx="3585645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1643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396" y="2474260"/>
            <a:ext cx="6439132" cy="996522"/>
          </a:xfrm>
          <a:ln>
            <a:noFill/>
          </a:ln>
        </p:spPr>
        <p:txBody>
          <a:bodyPr anchor="b" anchorCtr="0"/>
          <a:lstStyle>
            <a:lvl1pPr algn="r">
              <a:defRPr sz="3799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/>
        </p:nvSpPr>
        <p:spPr>
          <a:xfrm>
            <a:off x="9413982" y="6331945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61" tIns="60931" rIns="121861" bIns="60931" rtlCol="0" anchor="ctr"/>
          <a:lstStyle/>
          <a:p>
            <a:pPr algn="ctr"/>
            <a:endParaRPr lang="en-US" sz="1799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/>
        </p:nvSpPr>
        <p:spPr>
          <a:xfrm>
            <a:off x="4068424" y="3799832"/>
            <a:ext cx="7413328" cy="387772"/>
          </a:xfrm>
          <a:prstGeom prst="rect">
            <a:avLst/>
          </a:prstGeom>
          <a:noFill/>
        </p:spPr>
        <p:txBody>
          <a:bodyPr wrap="none" lIns="121861" tIns="60931" rIns="121861" bIns="60931" rtlCol="0">
            <a:spAutoFit/>
          </a:bodyPr>
          <a:lstStyle/>
          <a:p>
            <a:pPr algn="r"/>
            <a:r>
              <a:rPr lang="en-US" sz="1719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6429" y="6123667"/>
            <a:ext cx="6421522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199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6429" y="5763415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39"/>
              </a:lnSpc>
              <a:buNone/>
              <a:defRPr sz="21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10" y="5139766"/>
            <a:ext cx="1630845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70" y="2635938"/>
            <a:ext cx="3585645" cy="90276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A4DA76-608D-9394-5BBF-18216D6ECB19}"/>
              </a:ext>
            </a:extLst>
          </p:cNvPr>
          <p:cNvSpPr/>
          <p:nvPr userDrawn="1"/>
        </p:nvSpPr>
        <p:spPr>
          <a:xfrm>
            <a:off x="9413982" y="6331943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sz="18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461D71-F4E7-AE46-C30D-C9FFFE1559F6}"/>
              </a:ext>
            </a:extLst>
          </p:cNvPr>
          <p:cNvCxnSpPr/>
          <p:nvPr userDrawn="1"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5E74530-6D5F-4DCD-2D10-AC3B8C5FBB2A}"/>
              </a:ext>
            </a:extLst>
          </p:cNvPr>
          <p:cNvSpPr txBox="1"/>
          <p:nvPr userDrawn="1"/>
        </p:nvSpPr>
        <p:spPr>
          <a:xfrm>
            <a:off x="4068423" y="3799832"/>
            <a:ext cx="7413328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E1D414-D54E-7706-3C1D-1613BA01FB56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SCS-015.png">
            <a:extLst>
              <a:ext uri="{FF2B5EF4-FFF2-40B4-BE49-F238E27FC236}">
                <a16:creationId xmlns:a16="http://schemas.microsoft.com/office/drawing/2014/main" id="{2B7E1211-9044-BB0F-A1D4-AACD6C2E0F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9" y="5139766"/>
            <a:ext cx="1630845" cy="1630420"/>
          </a:xfrm>
          <a:prstGeom prst="rect">
            <a:avLst/>
          </a:prstGeom>
        </p:spPr>
      </p:pic>
      <p:pic>
        <p:nvPicPr>
          <p:cNvPr id="11" name="Picture 10" descr="MCHP-logo.jpg">
            <a:extLst>
              <a:ext uri="{FF2B5EF4-FFF2-40B4-BE49-F238E27FC236}">
                <a16:creationId xmlns:a16="http://schemas.microsoft.com/office/drawing/2014/main" id="{1718CE27-1495-B9EF-19C7-64778F1E0C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69" y="2635936"/>
            <a:ext cx="3585645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36201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1495" y="2034289"/>
            <a:ext cx="7911228" cy="1591386"/>
          </a:xfrm>
        </p:spPr>
        <p:txBody>
          <a:bodyPr anchor="b" anchorCtr="0"/>
          <a:lstStyle>
            <a:lvl1pPr algn="r">
              <a:defRPr sz="5298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1495" y="3824303"/>
            <a:ext cx="791122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699" b="0">
                <a:solidFill>
                  <a:srgbClr val="1D9CE4"/>
                </a:solidFill>
              </a:defRPr>
            </a:lvl1pPr>
            <a:lvl2pPr marL="60926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519" indent="0">
              <a:buNone/>
              <a:defRPr sz="2099">
                <a:solidFill>
                  <a:schemeClr val="tx1">
                    <a:tint val="75000"/>
                  </a:schemeClr>
                </a:solidFill>
              </a:defRPr>
            </a:lvl3pPr>
            <a:lvl4pPr marL="1827780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4pPr>
            <a:lvl5pPr marL="2437040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5pPr>
            <a:lvl6pPr marL="3046299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6pPr>
            <a:lvl7pPr marL="3655559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7pPr>
            <a:lvl8pPr marL="4264817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8pPr>
            <a:lvl9pPr marL="4874078" indent="0">
              <a:buNone/>
              <a:defRPr sz="18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D95F7D-BA7C-4BF9-DFCC-4D242812A42B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603557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96296"/>
            <a:ext cx="1140363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870" y="923076"/>
            <a:ext cx="11403630" cy="5385963"/>
          </a:xfrm>
          <a:prstGeom prst="rect">
            <a:avLst/>
          </a:prstGeom>
        </p:spPr>
        <p:txBody>
          <a:bodyPr/>
          <a:lstStyle>
            <a:lvl1pPr marL="274119" indent="-274119">
              <a:defRPr sz="3199"/>
            </a:lvl1pPr>
            <a:lvl2pPr marL="575899" indent="-274238">
              <a:defRPr sz="2799"/>
            </a:lvl2pPr>
            <a:lvl3pPr marL="868419" indent="-274238">
              <a:defRPr sz="2399"/>
            </a:lvl3pPr>
            <a:lvl4pPr marL="1142657" indent="-274238">
              <a:defRPr sz="1999"/>
            </a:lvl4pPr>
            <a:lvl5pPr marL="1435177" indent="-274238">
              <a:defRPr sz="19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065372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96295"/>
            <a:ext cx="1140363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700" y="831988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403852"/>
            <a:ext cx="11403630" cy="4905184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689466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626375"/>
            <a:ext cx="11403630" cy="4664076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96296"/>
            <a:ext cx="1140363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838072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96297"/>
            <a:ext cx="1140363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929272"/>
            <a:ext cx="5507280" cy="5374679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929270"/>
            <a:ext cx="5507280" cy="5374678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611629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96297"/>
            <a:ext cx="11403631" cy="77724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700" y="831988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546" y="1408545"/>
            <a:ext cx="5507280" cy="4907794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1408546"/>
            <a:ext cx="5507280" cy="4907794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01051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1" y="923078"/>
            <a:ext cx="5475995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799" b="1" i="0" u="sng">
                <a:solidFill>
                  <a:schemeClr val="accent1"/>
                </a:solidFill>
              </a:defRPr>
            </a:lvl1pPr>
            <a:lvl2pPr marL="609260" indent="0">
              <a:buNone/>
              <a:defRPr sz="2699" b="1"/>
            </a:lvl2pPr>
            <a:lvl3pPr marL="1218519" indent="0">
              <a:buNone/>
              <a:defRPr sz="2399" b="1"/>
            </a:lvl3pPr>
            <a:lvl4pPr marL="1827780" indent="0">
              <a:buNone/>
              <a:defRPr sz="2099" b="1"/>
            </a:lvl4pPr>
            <a:lvl5pPr marL="2437040" indent="0">
              <a:buNone/>
              <a:defRPr sz="2099" b="1"/>
            </a:lvl5pPr>
            <a:lvl6pPr marL="3046299" indent="0">
              <a:buNone/>
              <a:defRPr sz="2099" b="1"/>
            </a:lvl6pPr>
            <a:lvl7pPr marL="3655559" indent="0">
              <a:buNone/>
              <a:defRPr sz="2099" b="1"/>
            </a:lvl7pPr>
            <a:lvl8pPr marL="4264817" indent="0">
              <a:buNone/>
              <a:defRPr sz="2099" b="1"/>
            </a:lvl8pPr>
            <a:lvl9pPr marL="4874078" indent="0">
              <a:buNone/>
              <a:defRPr sz="20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6855" y="941660"/>
            <a:ext cx="5389033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799" b="1" u="sng">
                <a:solidFill>
                  <a:schemeClr val="accent1"/>
                </a:solidFill>
              </a:defRPr>
            </a:lvl1pPr>
            <a:lvl2pPr marL="609260" indent="0">
              <a:buNone/>
              <a:defRPr sz="2699" b="1"/>
            </a:lvl2pPr>
            <a:lvl3pPr marL="1218519" indent="0">
              <a:buNone/>
              <a:defRPr sz="2399" b="1"/>
            </a:lvl3pPr>
            <a:lvl4pPr marL="1827780" indent="0">
              <a:buNone/>
              <a:defRPr sz="2099" b="1"/>
            </a:lvl4pPr>
            <a:lvl5pPr marL="2437040" indent="0">
              <a:buNone/>
              <a:defRPr sz="2099" b="1"/>
            </a:lvl5pPr>
            <a:lvl6pPr marL="3046299" indent="0">
              <a:buNone/>
              <a:defRPr sz="2099" b="1"/>
            </a:lvl6pPr>
            <a:lvl7pPr marL="3655559" indent="0">
              <a:buNone/>
              <a:defRPr sz="2099" b="1"/>
            </a:lvl7pPr>
            <a:lvl8pPr marL="4264817" indent="0">
              <a:buNone/>
              <a:defRPr sz="2099" b="1"/>
            </a:lvl8pPr>
            <a:lvl9pPr marL="4874078" indent="0">
              <a:buNone/>
              <a:defRPr sz="2099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96297"/>
            <a:ext cx="1140363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3" y="1561175"/>
            <a:ext cx="5475993" cy="4795020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561178"/>
            <a:ext cx="5389033" cy="4795019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327828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3" y="1381007"/>
            <a:ext cx="5475995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799" b="1" u="sng">
                <a:solidFill>
                  <a:schemeClr val="accent1"/>
                </a:solidFill>
              </a:defRPr>
            </a:lvl1pPr>
            <a:lvl2pPr marL="609260" indent="0">
              <a:buNone/>
              <a:defRPr sz="2699" b="1"/>
            </a:lvl2pPr>
            <a:lvl3pPr marL="1218519" indent="0">
              <a:buNone/>
              <a:defRPr sz="2399" b="1"/>
            </a:lvl3pPr>
            <a:lvl4pPr marL="1827780" indent="0">
              <a:buNone/>
              <a:defRPr sz="2099" b="1"/>
            </a:lvl4pPr>
            <a:lvl5pPr marL="2437040" indent="0">
              <a:buNone/>
              <a:defRPr sz="2099" b="1"/>
            </a:lvl5pPr>
            <a:lvl6pPr marL="3046299" indent="0">
              <a:buNone/>
              <a:defRPr sz="2099" b="1"/>
            </a:lvl6pPr>
            <a:lvl7pPr marL="3655559" indent="0">
              <a:buNone/>
              <a:defRPr sz="2099" b="1"/>
            </a:lvl7pPr>
            <a:lvl8pPr marL="4264817" indent="0">
              <a:buNone/>
              <a:defRPr sz="2099" b="1"/>
            </a:lvl8pPr>
            <a:lvl9pPr marL="4874078" indent="0">
              <a:buNone/>
              <a:defRPr sz="20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6855" y="1381003"/>
            <a:ext cx="5389033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799" b="1" u="sng">
                <a:solidFill>
                  <a:schemeClr val="accent1"/>
                </a:solidFill>
              </a:defRPr>
            </a:lvl1pPr>
            <a:lvl2pPr marL="609260" indent="0">
              <a:buNone/>
              <a:defRPr sz="2699" b="1"/>
            </a:lvl2pPr>
            <a:lvl3pPr marL="1218519" indent="0">
              <a:buNone/>
              <a:defRPr sz="2399" b="1"/>
            </a:lvl3pPr>
            <a:lvl4pPr marL="1827780" indent="0">
              <a:buNone/>
              <a:defRPr sz="2099" b="1"/>
            </a:lvl4pPr>
            <a:lvl5pPr marL="2437040" indent="0">
              <a:buNone/>
              <a:defRPr sz="2099" b="1"/>
            </a:lvl5pPr>
            <a:lvl6pPr marL="3046299" indent="0">
              <a:buNone/>
              <a:defRPr sz="2099" b="1"/>
            </a:lvl6pPr>
            <a:lvl7pPr marL="3655559" indent="0">
              <a:buNone/>
              <a:defRPr sz="2099" b="1"/>
            </a:lvl7pPr>
            <a:lvl8pPr marL="4264817" indent="0">
              <a:buNone/>
              <a:defRPr sz="2099" b="1"/>
            </a:lvl8pPr>
            <a:lvl9pPr marL="4874078" indent="0">
              <a:buNone/>
              <a:defRPr sz="20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96297"/>
            <a:ext cx="1140363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700" y="831988"/>
            <a:ext cx="1140363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/>
        </p:nvSpPr>
        <p:spPr>
          <a:xfrm>
            <a:off x="10438807" y="6490883"/>
            <a:ext cx="129243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9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3" y="1988634"/>
            <a:ext cx="5475993" cy="4327704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988634"/>
            <a:ext cx="5389033" cy="4327704"/>
          </a:xfrm>
          <a:prstGeom prst="rect">
            <a:avLst/>
          </a:prstGeom>
        </p:spPr>
        <p:txBody>
          <a:bodyPr/>
          <a:lstStyle>
            <a:lvl1pPr marL="274119" indent="-274119">
              <a:defRPr/>
            </a:lvl1pPr>
            <a:lvl2pPr marL="575899" indent="-274238">
              <a:defRPr/>
            </a:lvl2pPr>
            <a:lvl3pPr marL="868419" indent="-274238">
              <a:defRPr/>
            </a:lvl3pPr>
            <a:lvl4pPr marL="1142657" indent="-274238">
              <a:defRPr/>
            </a:lvl4pPr>
            <a:lvl5pPr marL="1435177" indent="-2742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06ACBD-096C-0CC3-C95D-674A89F5D91D}"/>
              </a:ext>
            </a:extLst>
          </p:cNvPr>
          <p:cNvSpPr/>
          <p:nvPr userDrawn="1"/>
        </p:nvSpPr>
        <p:spPr>
          <a:xfrm>
            <a:off x="10438806" y="6490881"/>
            <a:ext cx="129243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855097906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96296"/>
            <a:ext cx="1140363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15250299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3" y="96295"/>
            <a:ext cx="1140363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700" y="82911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280114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856776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797" indent="-342797">
              <a:buFont typeface="Wingdings" panose="05000000000000000000" pitchFamily="2" charset="2"/>
              <a:buChar char="l"/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775666"/>
      </p:ext>
    </p:extLst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222" y="75863"/>
            <a:ext cx="900617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91995"/>
            <a:ext cx="5386917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051437"/>
            <a:ext cx="5386917" cy="4074726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391995"/>
            <a:ext cx="5389033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051437"/>
            <a:ext cx="5389033" cy="4074726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77129"/>
      </p:ext>
    </p:extLst>
  </p:cSld>
  <p:clrMapOvr>
    <a:masterClrMapping/>
  </p:clrMapOvr>
  <p:transition spd="slow">
    <p:push dir="u"/>
  </p:transition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502" y="160337"/>
            <a:ext cx="900617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91995"/>
            <a:ext cx="5386917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051437"/>
            <a:ext cx="7495309" cy="4074726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391995"/>
            <a:ext cx="5389033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179724" y="2051437"/>
            <a:ext cx="3402676" cy="2711756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AA8248C-028C-0DEF-37B8-C4108DFE87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17578" y="160338"/>
            <a:ext cx="1864822" cy="1142999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7614AE-4C5E-5BCA-5FD7-9B67CF7811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79724" y="4854633"/>
            <a:ext cx="3402676" cy="126443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076596"/>
      </p:ext>
    </p:extLst>
  </p:cSld>
  <p:clrMapOvr>
    <a:masterClrMapping/>
  </p:clrMapOvr>
  <p:transition spd="slow">
    <p:push dir="u"/>
  </p:transition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7" y="79114"/>
            <a:ext cx="7893901" cy="77724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505" y="920400"/>
            <a:ext cx="5580444" cy="4069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546" y="1408545"/>
            <a:ext cx="7896957" cy="4907794"/>
          </a:xfrm>
          <a:prstGeom prst="rect">
            <a:avLst/>
          </a:prstGeom>
        </p:spPr>
        <p:txBody>
          <a:bodyPr/>
          <a:lstStyle>
            <a:lvl1pPr marL="274201" indent="-274201">
              <a:defRPr>
                <a:solidFill>
                  <a:schemeClr val="accent1"/>
                </a:solidFill>
              </a:defRPr>
            </a:lvl1pPr>
            <a:lvl2pPr marL="576072" indent="-274320">
              <a:buFont typeface="Courier New" panose="02070309020205020404" pitchFamily="49" charset="0"/>
              <a:buChar char="o"/>
              <a:defRPr/>
            </a:lvl2pPr>
            <a:lvl3pPr marL="868680" indent="-274320">
              <a:buFont typeface="Courier New" panose="02070309020205020404" pitchFamily="49" charset="0"/>
              <a:buChar char="o"/>
              <a:defRPr/>
            </a:lvl3pPr>
            <a:lvl4pPr marL="1143000" indent="-274320">
              <a:buFont typeface="Courier New" panose="02070309020205020404" pitchFamily="49" charset="0"/>
              <a:buChar char="o"/>
              <a:defRPr/>
            </a:lvl4pPr>
            <a:lvl5pPr marL="1435608" indent="-27432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29423" y="1408546"/>
            <a:ext cx="3429809" cy="365172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0BEDC3A6-F00E-AA48-99C4-75A500F53A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sp>
        <p:nvSpPr>
          <p:cNvPr id="3" name="Content Placeholder 12">
            <a:extLst>
              <a:ext uri="{FF2B5EF4-FFF2-40B4-BE49-F238E27FC236}">
                <a16:creationId xmlns:a16="http://schemas.microsoft.com/office/drawing/2014/main" id="{354E406C-3B58-AD27-E1FD-269169D18AF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329423" y="5144335"/>
            <a:ext cx="3429809" cy="1172004"/>
          </a:xfrm>
          <a:prstGeom prst="rect">
            <a:avLst/>
          </a:prstGeom>
        </p:spPr>
        <p:txBody>
          <a:bodyPr/>
          <a:lstStyle>
            <a:lvl1pPr marL="274201" indent="-274201">
              <a:defRPr sz="1200"/>
            </a:lvl1pPr>
            <a:lvl2pPr marL="576072" indent="-274320">
              <a:defRPr sz="1100"/>
            </a:lvl2pPr>
            <a:lvl3pPr marL="868680" indent="-274320">
              <a:defRPr sz="1050"/>
            </a:lvl3pPr>
            <a:lvl4pPr marL="1143000" indent="-274320">
              <a:defRPr sz="1000"/>
            </a:lvl4pPr>
            <a:lvl5pPr marL="1435608" indent="-274320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E25E8056-194D-840E-51BB-2492F07687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329423" y="79114"/>
            <a:ext cx="3429809" cy="777240"/>
          </a:xfrm>
          <a:prstGeom prst="rect">
            <a:avLst/>
          </a:prstGeom>
        </p:spPr>
        <p:txBody>
          <a:bodyPr/>
          <a:lstStyle>
            <a:lvl1pPr marL="274201" indent="-274201">
              <a:defRPr sz="800"/>
            </a:lvl1pPr>
            <a:lvl2pPr marL="576072" indent="-274320">
              <a:defRPr sz="700"/>
            </a:lvl2pPr>
            <a:lvl3pPr marL="868680" indent="-274320">
              <a:defRPr sz="600"/>
            </a:lvl3pPr>
            <a:lvl4pPr marL="1143000" indent="-274320">
              <a:defRPr sz="500"/>
            </a:lvl4pPr>
            <a:lvl5pPr marL="1435608" indent="-274320"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DACAAF71-74E7-98B6-9B08-40818062E59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2309" y="917564"/>
            <a:ext cx="5753495" cy="4069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122933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395" y="2474260"/>
            <a:ext cx="6439132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3982" y="6331943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sz="18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8423" y="3799832"/>
            <a:ext cx="7413328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6429" y="6123667"/>
            <a:ext cx="6421522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6428" y="5763413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9" y="5139766"/>
            <a:ext cx="1630845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69" y="2635936"/>
            <a:ext cx="3585645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66152"/>
      </p:ext>
    </p:extLst>
  </p:cSld>
  <p:clrMapOvr>
    <a:masterClrMapping/>
  </p:clrMapOvr>
  <p:transition spd="slow"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870" y="923074"/>
            <a:ext cx="1140363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CFBB8E9-F63F-2849-8D93-515C0E381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75283"/>
      </p:ext>
    </p:extLst>
  </p:cSld>
  <p:clrMapOvr>
    <a:masterClrMapping/>
  </p:clrMapOvr>
  <p:transition spd="slow">
    <p:push dir="u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51832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403852"/>
            <a:ext cx="1140363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84620E5-7604-BF40-AA2A-68D1E97B5A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57155"/>
      </p:ext>
    </p:extLst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626375"/>
            <a:ext cx="1140363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84620E5-7604-BF40-AA2A-68D1E97B5A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2670393602"/>
      </p:ext>
    </p:extLst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929270"/>
            <a:ext cx="5507280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929270"/>
            <a:ext cx="5507280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E207374-1933-8943-A74C-3F7383DA9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52386"/>
      </p:ext>
    </p:extLst>
  </p:cSld>
  <p:clrMapOvr>
    <a:masterClrMapping/>
  </p:clrMapOvr>
  <p:transition spd="slow"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51832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546" y="1408545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1408546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0BEDC3A6-F00E-AA48-99C4-75A500F53A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34105"/>
      </p:ext>
    </p:extLst>
  </p:cSld>
  <p:clrMapOvr>
    <a:masterClrMapping/>
  </p:clrMapOvr>
  <p:transition spd="slow">
    <p:push dir="u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923076"/>
            <a:ext cx="5475995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6855" y="941660"/>
            <a:ext cx="5389033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561175"/>
            <a:ext cx="5475993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561176"/>
            <a:ext cx="5389033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CE0440D-3370-E243-B5FE-5489B4AA25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51916905"/>
      </p:ext>
    </p:extLst>
  </p:cSld>
  <p:clrMapOvr>
    <a:masterClrMapping/>
  </p:clrMapOvr>
  <p:transition spd="slow">
    <p:push dir="u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381005"/>
            <a:ext cx="5475995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6855" y="1381003"/>
            <a:ext cx="5389033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51832"/>
            <a:ext cx="1140363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8806" y="6490881"/>
            <a:ext cx="129243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988634"/>
            <a:ext cx="547599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988634"/>
            <a:ext cx="538903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EC84BCC1-19CF-B943-832F-E67188616C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8183680"/>
      </p:ext>
    </p:extLst>
  </p:cSld>
  <p:clrMapOvr>
    <a:masterClrMapping/>
  </p:clrMapOvr>
  <p:transition spd="slow">
    <p:push dir="u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D18F9-37A4-E647-9A00-D6F3C9AE24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49360"/>
      </p:ext>
    </p:extLst>
  </p:cSld>
  <p:clrMapOvr>
    <a:masterClrMapping/>
  </p:clrMapOvr>
  <p:transition spd="slow">
    <p:push dir="u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55576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E1AF5FC-F2FA-394E-84C1-01EAD8B919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753" y="6413762"/>
            <a:ext cx="541193" cy="365125"/>
          </a:xfrm>
          <a:prstGeom prst="rect">
            <a:avLst/>
          </a:prstGeom>
        </p:spPr>
        <p:txBody>
          <a:bodyPr/>
          <a:lstStyle/>
          <a:p>
            <a:pPr algn="r"/>
            <a:fld id="{8C966FB5-52B7-6949-B0A0-AF71D5B5D070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32751"/>
      </p:ext>
    </p:extLst>
  </p:cSld>
  <p:clrMapOvr>
    <a:masterClrMapping/>
  </p:clrMapOvr>
  <p:transition spd="slow">
    <p:push dir="u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99" y="923076"/>
            <a:ext cx="7210146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637887" y="923076"/>
            <a:ext cx="4138002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7210144" cy="777240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561175"/>
            <a:ext cx="7210144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654545" y="1561175"/>
            <a:ext cx="4121345" cy="302563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B0868781-D382-2773-9F44-371A7F2F4E8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637886" y="4654932"/>
            <a:ext cx="4138003" cy="1701263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388B809-7FD5-D8BE-3B9B-BA75917CC2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37886" y="98404"/>
            <a:ext cx="4138002" cy="77286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</p:spTree>
    <p:extLst>
      <p:ext uri="{BB962C8B-B14F-4D97-AF65-F5344CB8AC3E}">
        <p14:creationId xmlns:p14="http://schemas.microsoft.com/office/powerpoint/2010/main" val="912993720"/>
      </p:ext>
    </p:extLst>
  </p:cSld>
  <p:clrMapOvr>
    <a:masterClrMapping/>
  </p:clrMapOvr>
  <p:transition spd="slow">
    <p:push dir="u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: Head, sub, sm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621554" y="1362636"/>
            <a:ext cx="11020612" cy="4805082"/>
          </a:xfrm>
          <a:prstGeom prst="rect">
            <a:avLst/>
          </a:prstGeom>
        </p:spPr>
        <p:txBody>
          <a:bodyPr/>
          <a:lstStyle>
            <a:lvl1pPr marL="228600" indent="-228600">
              <a:buSzPct val="150000"/>
              <a:defRPr sz="1800">
                <a:solidFill>
                  <a:schemeClr val="accent2"/>
                </a:solidFill>
              </a:defRPr>
            </a:lvl1pPr>
            <a:lvl2pPr marL="685800" indent="-228600">
              <a:defRPr>
                <a:solidFill>
                  <a:schemeClr val="accent2"/>
                </a:solidFill>
              </a:defRPr>
            </a:lvl2pPr>
            <a:lvl3pPr marL="1085850" indent="-171450">
              <a:defRPr sz="1500">
                <a:solidFill>
                  <a:schemeClr val="accent2"/>
                </a:solidFill>
              </a:defRPr>
            </a:lvl3pPr>
            <a:lvl4pPr marL="1543050" indent="-171450">
              <a:defRPr>
                <a:solidFill>
                  <a:schemeClr val="accent2"/>
                </a:solidFill>
              </a:defRPr>
            </a:lvl4pPr>
            <a:lvl5pPr marL="2000250" indent="-171450"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 bwMode="auto">
          <a:xfrm>
            <a:off x="609601" y="301752"/>
            <a:ext cx="10972802" cy="44994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29"/>
          <p:cNvSpPr>
            <a:spLocks noGrp="1"/>
          </p:cNvSpPr>
          <p:nvPr>
            <p:ph type="body" sz="quarter" idx="14"/>
          </p:nvPr>
        </p:nvSpPr>
        <p:spPr>
          <a:xfrm>
            <a:off x="609600" y="758954"/>
            <a:ext cx="10972801" cy="348343"/>
          </a:xfrm>
          <a:prstGeom prst="rect">
            <a:avLst/>
          </a:prstGeom>
        </p:spPr>
        <p:txBody>
          <a:bodyPr lIns="91440" rIns="91440"/>
          <a:lstStyle>
            <a:lvl1pPr marL="0" indent="0">
              <a:buNone/>
              <a:defRPr sz="20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9"/>
          </p:nvPr>
        </p:nvSpPr>
        <p:spPr>
          <a:xfrm>
            <a:off x="9338733" y="6465890"/>
            <a:ext cx="1075267" cy="211137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rgbClr val="5F5F5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632201" y="6462715"/>
            <a:ext cx="5676900" cy="388937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5F5F5F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SAM4L Ultra-low Power Cortex-M4 MCU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28117"/>
      </p:ext>
    </p:extLst>
  </p:cSld>
  <p:clrMapOvr>
    <a:masterClrMapping/>
  </p:clrMapOvr>
  <p:transition spd="slow">
    <p:push dir="u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: Head, sub, smart (Confidenti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8" hasCustomPrompt="1"/>
          </p:nvPr>
        </p:nvSpPr>
        <p:spPr>
          <a:xfrm>
            <a:off x="621554" y="1362636"/>
            <a:ext cx="11020612" cy="4805082"/>
          </a:xfrm>
          <a:prstGeom prst="rect">
            <a:avLst/>
          </a:prstGeom>
        </p:spPr>
        <p:txBody>
          <a:bodyPr/>
          <a:lstStyle>
            <a:lvl1pPr marL="228600" indent="-228600">
              <a:buSzPct val="150000"/>
              <a:defRPr sz="1800">
                <a:solidFill>
                  <a:schemeClr val="accent2"/>
                </a:solidFill>
              </a:defRPr>
            </a:lvl1pPr>
            <a:lvl2pPr marL="685800" indent="-228600">
              <a:defRPr>
                <a:solidFill>
                  <a:schemeClr val="accent2"/>
                </a:solidFill>
              </a:defRPr>
            </a:lvl2pPr>
            <a:lvl3pPr marL="1085850" indent="-171450">
              <a:defRPr sz="1500">
                <a:solidFill>
                  <a:schemeClr val="accent2"/>
                </a:solidFill>
              </a:defRPr>
            </a:lvl3pPr>
            <a:lvl4pPr marL="1543050" indent="-171450">
              <a:defRPr>
                <a:solidFill>
                  <a:schemeClr val="accent2"/>
                </a:solidFill>
              </a:defRPr>
            </a:lvl4pPr>
            <a:lvl5pPr marL="2000250" indent="-171450"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add text or object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1" y="6462470"/>
            <a:ext cx="6287068" cy="388706"/>
          </a:xfrm>
          <a:prstGeom prst="rect">
            <a:avLst/>
          </a:prstGeom>
        </p:spPr>
        <p:txBody>
          <a:bodyPr lIns="0" rIns="0"/>
          <a:lstStyle>
            <a:lvl1pPr>
              <a:defRPr sz="800">
                <a:solidFill>
                  <a:srgbClr val="5F5F5F"/>
                </a:solidFill>
                <a:latin typeface="+mn-lt"/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609601" y="301752"/>
            <a:ext cx="10972802" cy="44994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29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758954"/>
            <a:ext cx="10972801" cy="348343"/>
          </a:xfrm>
          <a:prstGeom prst="rect">
            <a:avLst/>
          </a:prstGeom>
        </p:spPr>
        <p:txBody>
          <a:bodyPr lIns="91440" rIns="91440"/>
          <a:lstStyle>
            <a:lvl1pPr marL="0" indent="0">
              <a:buNone/>
              <a:defRPr sz="20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43130947"/>
      </p:ext>
    </p:extLst>
  </p:cSld>
  <p:clrMapOvr>
    <a:masterClrMapping/>
  </p:clrMapOvr>
  <p:transition spd="slow">
    <p:push dir="u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7D49BD-9D97-5891-41CC-0868CD331FF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1390"/>
            <a:ext cx="12210995" cy="68668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BE019A8-131F-E9AA-C4E0-6144DA94F315}"/>
              </a:ext>
            </a:extLst>
          </p:cNvPr>
          <p:cNvSpPr/>
          <p:nvPr userDrawn="1"/>
        </p:nvSpPr>
        <p:spPr>
          <a:xfrm>
            <a:off x="-1" y="1159933"/>
            <a:ext cx="12192001" cy="498047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16F29-C458-9A53-414F-A4394366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20" y="100133"/>
            <a:ext cx="11403631" cy="7385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BEDF6-E61F-D169-74C7-E184FD99C5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2024 Microchip Technology Inc. and its subsidiaries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3927A-4F70-5EF6-143B-EC49BDCD10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FEB42B-20A4-1844-8451-F487DC9905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552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546" y="1408545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1408546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808E9F-E1EF-42BA-9D98-7ADB3F3C9E5A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175DC-60EB-49C6-85F8-08A13F0B2DE6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D4EF4F7-539A-478D-9109-E8422B2E2DA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7EACB1-F62E-4B5B-8101-D51E3525D2B3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10430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7070728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1495" y="2034289"/>
            <a:ext cx="791122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1495" y="3824301"/>
            <a:ext cx="791122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3695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6BDC64-A662-4253-ACF1-9E9270C12FC9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A88C2FB-30B4-43AB-897F-94A4496A5FCB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564B71-07D6-4674-B3C8-30B59BB80735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B67C5F-78A5-4F16-BA9C-542EF376D13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69365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AF4FF1-1EE3-456A-87FF-41603F28FC5B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FA92F0-7E43-466F-A1EB-37626AC957F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5C6D50-C731-4022-AF22-8F679EBB87FD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D24477-64BA-40A2-9875-E176E7F12E23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07358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870" y="923074"/>
            <a:ext cx="1140363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4C3B6E-85FB-42F7-882B-BE993E1308A5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674385-670D-4AFA-A10A-4FAE19714B4E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BD81EA-CD5D-4089-8E54-F59FBFE7E34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3B73E10-5A8E-472B-9F0B-986C446AEAFE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713050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29116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4668A2-4695-41C7-8E68-91B0555329DA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DB79E9-E9E1-4393-A16B-B0ADF34431F1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D979E0-0919-4100-A834-ABAAF89D6132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5174E81-1B6F-4557-9544-9D09CDCF5888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90190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626375"/>
            <a:ext cx="1140363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EFF12C9-830F-4A07-843E-4AE6005D3792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4632A0-DD3B-44E1-9141-5F16F6ECD20E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BB370F-8552-4D25-9983-49C6C4D92442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0F6EA3-BBF2-4AA7-8779-B38D6AB151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60723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395" y="2474260"/>
            <a:ext cx="6439132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3982" y="6331943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sz="24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8423" y="3799832"/>
            <a:ext cx="7413328" cy="387772"/>
          </a:xfrm>
          <a:prstGeom prst="rect">
            <a:avLst/>
          </a:prstGeom>
          <a:noFill/>
        </p:spPr>
        <p:txBody>
          <a:bodyPr wrap="squar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6429" y="6123667"/>
            <a:ext cx="6421522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6428" y="5763413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9" y="5139766"/>
            <a:ext cx="1630845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69" y="2635936"/>
            <a:ext cx="3585645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084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395" y="2474260"/>
            <a:ext cx="6439132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3982" y="6331943"/>
            <a:ext cx="2778020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sz="18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4816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8423" y="3799832"/>
            <a:ext cx="7413328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6429" y="6123667"/>
            <a:ext cx="6421522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6428" y="5763413"/>
            <a:ext cx="6421917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9" y="5139766"/>
            <a:ext cx="1630845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669" y="2635936"/>
            <a:ext cx="3585645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8657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1495" y="2034289"/>
            <a:ext cx="791122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1495" y="3824301"/>
            <a:ext cx="791122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1495" y="3724987"/>
            <a:ext cx="791122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15989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870" y="923074"/>
            <a:ext cx="1140363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FD760F-7C5E-4E44-B69C-EB85837D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113986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403852"/>
            <a:ext cx="1140363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67648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1" y="1626375"/>
            <a:ext cx="1140363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D67FA37-0073-AF47-8F1C-C046BC1C2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FA29F-D3D1-B743-BF1F-4F74E9BFBE96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D98CAA-53AB-CA40-BB99-AC8568C9C965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93471D4-F779-B244-9C40-C480DA421F1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653C1-7F81-CF47-B063-A8C4BC3DF14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3EB453-955B-B940-9782-A882942161A9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8856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929270"/>
            <a:ext cx="5507280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929270"/>
            <a:ext cx="5507280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8986A39-4957-2843-AFDE-E6160A6C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C2564-89A5-B045-B11D-EC2B6C4EF263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6810D8-1F1D-2E44-98D2-9655BDEBA9A9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5B9D91C-B319-6740-B041-91E92A828C26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D45905-001C-3245-A3FD-ABDBA73B7BBC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045E37-2F57-AB4C-8037-7C0BF70F4E15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400344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546" y="1408545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1952" y="1408546"/>
            <a:ext cx="5507280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D0980E6-4C36-ED4A-BBAC-FCB3FD47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4F5BD-A8B2-8A43-8F9D-27796637426D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AB45CE-9A16-9D42-B335-40FCBA3C7672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A8F7AB5-BFE5-D543-9ED3-50EAB714655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272549-DB7B-3E4B-A9DF-41399001725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593CC7-18E5-1E4B-B493-BCCB1352C41B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39322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0" y="923076"/>
            <a:ext cx="5475995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6855" y="941660"/>
            <a:ext cx="5389033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561175"/>
            <a:ext cx="5475993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561176"/>
            <a:ext cx="5389033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884F7A06-CF40-064F-B9BE-F69B2DFE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839D-F08B-6B46-82B5-51DE2326DF5F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C1BBAD-8C56-A04F-899C-5B4188A5F5D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25B9A85-EE0A-E54F-AA18-41FF007C6B2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AC621-04E4-3B47-A37C-31D012718AE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66AC5E-3B4D-524B-B3AE-A5267FAD281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17220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381005"/>
            <a:ext cx="5475995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6855" y="1381003"/>
            <a:ext cx="5389033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31987"/>
            <a:ext cx="1140363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8806" y="6490881"/>
            <a:ext cx="129243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602" y="1988634"/>
            <a:ext cx="547599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6856" y="1988634"/>
            <a:ext cx="5389033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099EDC09-5657-6C4E-AE82-350208BA5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DC922F-64A0-A245-9B54-7182667660D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28C046-B8FC-994F-85A4-8FD25DF19D2F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B520446-FD47-794F-A313-0EC6DBF6114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B0F66-0524-644B-A3CD-BA2A1489128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5BC8B-986D-8044-8033-3156B5F78D3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399730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6"/>
            <a:ext cx="1140363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4FF79-E97B-4A45-8531-09115531EF4A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C4752-EFF3-2B44-8E4B-F4DEFD9A25AA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3BFC65E3-DBEB-1842-AA6D-2998A3A3FD5B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21974-58F0-B847-85B6-BB315041D59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98491-2152-B244-BD39-4FE185E36846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116084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96295"/>
            <a:ext cx="1140363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99" y="829116"/>
            <a:ext cx="1140363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CCBDF1D-727A-8D40-8A82-92589DBB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604027-1BF3-C14F-877E-5C7EE39F69C0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4F8B5-2138-234E-903C-B35966BCD11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9AB5E9E-CCD6-9040-9CA1-3DCB3C4DE5FC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94146-079F-A945-B1E9-105CEE8A4D91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A5633-2AD4-2D44-AC80-6A32A00CAC6A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683190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025A1E1-D99B-A04E-A12E-D4E8E63C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8A96F-9EB8-7740-A265-0BBDA7FB1BFC}"/>
              </a:ext>
            </a:extLst>
          </p:cNvPr>
          <p:cNvGrpSpPr/>
          <p:nvPr userDrawn="1"/>
        </p:nvGrpSpPr>
        <p:grpSpPr>
          <a:xfrm>
            <a:off x="3985837" y="6596324"/>
            <a:ext cx="3595223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354E03-A149-934A-8EE2-DADBA3C644C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7A855CC-F7C0-7640-82CB-E23B5A29FE53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 August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3E9907-5B53-D94D-B91B-5D80BFCB4C3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318FC-FB83-DD43-9569-4DB052814862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43182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3EDA-B3C1-4F90-BD67-89F55549B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590FA-1541-AECA-B560-7041B6D91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B7CA7-6A3F-526D-49E7-0AB88575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15625-2575-4C51-9510-0E10519CF938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ACB53-909F-4692-EFDF-1ED34F7C6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5ED-0A94-7E3A-AC9C-55E72034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69814-40C5-43E5-A7E0-45B768B32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44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theme" Target="../theme/theme2.xml"/><Relationship Id="rId15" Type="http://schemas.openxmlformats.org/officeDocument/2006/relationships/image" Target="../media/image1.jp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5.xml"/><Relationship Id="rId31" Type="http://schemas.openxmlformats.org/officeDocument/2006/relationships/theme" Target="../theme/theme3.xml"/><Relationship Id="rId32" Type="http://schemas.openxmlformats.org/officeDocument/2006/relationships/image" Target="../media/image1.jp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theme" Target="../theme/theme4.xml"/><Relationship Id="rId11" Type="http://schemas.openxmlformats.org/officeDocument/2006/relationships/image" Target="../media/image1.jp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77.xml"/><Relationship Id="rId14" Type="http://schemas.openxmlformats.org/officeDocument/2006/relationships/theme" Target="../theme/theme5.xml"/><Relationship Id="rId1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93" y="6396138"/>
            <a:ext cx="1447504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039092"/>
            <a:ext cx="1140363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65650-0440-F143-8EFF-C6F819EF3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98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93" y="6396138"/>
            <a:ext cx="1447504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039092"/>
            <a:ext cx="1140363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65650-0440-F143-8EFF-C6F819EF3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0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826" r:id="rId13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93" y="6396138"/>
            <a:ext cx="1447504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3" y="96299"/>
            <a:ext cx="1140363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927" y="1124744"/>
            <a:ext cx="11313307" cy="5326660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230" y="6465417"/>
            <a:ext cx="5396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3" descr="MCHP-logo.jpg">
            <a:extLst>
              <a:ext uri="{FF2B5EF4-FFF2-40B4-BE49-F238E27FC236}">
                <a16:creationId xmlns:a16="http://schemas.microsoft.com/office/drawing/2014/main" id="{6236A8D5-52C7-43C4-ED38-93067D9387CF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93" y="6396138"/>
            <a:ext cx="1447504" cy="36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61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  <p:sldLayoutId id="2147483803" r:id="rId18"/>
    <p:sldLayoutId id="2147483804" r:id="rId19"/>
    <p:sldLayoutId id="2147483805" r:id="rId20"/>
    <p:sldLayoutId id="2147483806" r:id="rId21"/>
    <p:sldLayoutId id="2147483807" r:id="rId22"/>
    <p:sldLayoutId id="2147483808" r:id="rId23"/>
    <p:sldLayoutId id="2147483809" r:id="rId24"/>
    <p:sldLayoutId id="2147483810" r:id="rId25"/>
    <p:sldLayoutId id="2147483811" r:id="rId26"/>
    <p:sldLayoutId id="2147483812" r:id="rId27"/>
    <p:sldLayoutId id="2147483813" r:id="rId28"/>
    <p:sldLayoutId id="2147483814" r:id="rId29"/>
    <p:sldLayoutId id="2147483815" r:id="rId30"/>
  </p:sldLayoutIdLst>
  <p:transition spd="slow">
    <p:push dir="u"/>
  </p:transition>
  <p:hf hdr="0" ftr="0" dt="0"/>
  <p:txStyles>
    <p:titleStyle>
      <a:lvl1pPr algn="l" defTabSz="609260" rtl="0" eaLnBrk="1" latinLnBrk="0" hangingPunct="1">
        <a:lnSpc>
          <a:spcPct val="100000"/>
        </a:lnSpc>
        <a:spcBef>
          <a:spcPct val="0"/>
        </a:spcBef>
        <a:buNone/>
        <a:defRPr sz="4399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238" indent="-274238" algn="l" defTabSz="609260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199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5899" indent="-274238" algn="l" defTabSz="609260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799" kern="1200">
          <a:solidFill>
            <a:srgbClr val="070707"/>
          </a:solidFill>
          <a:latin typeface="+mn-lt"/>
          <a:ea typeface="+mn-ea"/>
          <a:cs typeface="+mn-cs"/>
        </a:defRPr>
      </a:lvl2pPr>
      <a:lvl3pPr marL="868419" indent="-274238" algn="l" defTabSz="609260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399" kern="1200">
          <a:solidFill>
            <a:srgbClr val="070707"/>
          </a:solidFill>
          <a:latin typeface="+mn-lt"/>
          <a:ea typeface="+mn-ea"/>
          <a:cs typeface="+mn-cs"/>
        </a:defRPr>
      </a:lvl3pPr>
      <a:lvl4pPr marL="1142657" indent="-274238" algn="l" defTabSz="609260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1999" kern="1200">
          <a:solidFill>
            <a:srgbClr val="070707"/>
          </a:solidFill>
          <a:latin typeface="+mn-lt"/>
          <a:ea typeface="+mn-ea"/>
          <a:cs typeface="+mn-cs"/>
        </a:defRPr>
      </a:lvl4pPr>
      <a:lvl5pPr marL="1435177" indent="-274238" algn="l" defTabSz="609260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1999" kern="1200">
          <a:solidFill>
            <a:srgbClr val="070707"/>
          </a:solidFill>
          <a:latin typeface="+mn-lt"/>
          <a:ea typeface="+mn-ea"/>
          <a:cs typeface="+mn-cs"/>
        </a:defRPr>
      </a:lvl5pPr>
      <a:lvl6pPr marL="3350927" indent="-304632" algn="l" defTabSz="609260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188" indent="-304632" algn="l" defTabSz="609260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448" indent="-304632" algn="l" defTabSz="609260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8707" indent="-304632" algn="l" defTabSz="609260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260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260" algn="l" defTabSz="609260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519" algn="l" defTabSz="609260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7780" algn="l" defTabSz="609260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040" algn="l" defTabSz="609260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299" algn="l" defTabSz="609260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5559" algn="l" defTabSz="609260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4817" algn="l" defTabSz="609260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078" algn="l" defTabSz="609260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559">
          <p15:clr>
            <a:srgbClr val="F26B43"/>
          </p15:clr>
        </p15:guide>
        <p15:guide id="4" pos="16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93" y="6396138"/>
            <a:ext cx="1447504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039092"/>
            <a:ext cx="1140363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67076" y="6495408"/>
            <a:ext cx="53963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29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193" y="6396138"/>
            <a:ext cx="1447504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602" y="96297"/>
            <a:ext cx="1140363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602" y="1039092"/>
            <a:ext cx="1140363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599" y="6479339"/>
            <a:ext cx="3860800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65650-0440-F143-8EFF-C6F819EF3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9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</p:sldLayoutIdLst>
  <p:hf sldNum="0"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CDB99A-A3C8-425D-A065-56CA9D24F6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0E3689"/>
                </a:solidFill>
                <a:latin typeface="Calibri"/>
              </a:rPr>
              <a:t>Firmware BLE Mesh para Dimmers</a:t>
            </a:r>
            <a:endParaRPr lang="en-US" dirty="0"/>
          </a:p>
          <a:p>
            <a:pPr algn="l">
              <a:lnSpc>
                <a:spcPct val="95000"/>
              </a:lnSpc>
              <a:spcBef>
                <a:spcPts val="600"/>
              </a:spcBef>
              <a:spcAft>
                <a:spcPts val="400"/>
              </a:spcAft>
            </a:pPr>
            <a:r>
              <a:rPr sz="1900" b="0" i="0">
                <a:solidFill>
                  <a:srgbClr val="1D9CE4"/>
                </a:solidFill>
                <a:latin typeface="Calibri"/>
              </a:rPr>
              <a:t>Protocolo, topologia e tempos de formação de rede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2B08B-B679-4255-BC10-E80ED2CE11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E3689"/>
                </a:solidFill>
                <a:latin typeface="Calibri"/>
              </a:rPr>
              <a:t>Rodrigo Britto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91031E-C78C-4E2F-99D6-027C1612F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1D9CE4"/>
                </a:solidFill>
                <a:latin typeface="Calibri"/>
              </a:rPr>
              <a:t>Agosto de 2026</a:t>
            </a:r>
          </a:p>
        </p:txBody>
      </p:sp>
    </p:spTree>
    <p:extLst>
      <p:ext uri="{BB962C8B-B14F-4D97-AF65-F5344CB8AC3E}">
        <p14:creationId xmlns:p14="http://schemas.microsoft.com/office/powerpoint/2010/main" val="31467467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Escopo e plataforma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A0B0F"/>
                </a:solidFill>
                <a:latin typeface="Calibri"/>
              </a:rPr>
              <a:t>Malha BLE proprietária sobre GATT/TRSP</a:t>
            </a:r>
            <a:r>
              <a:rPr sz="1500" b="0" i="0">
                <a:solidFill>
                  <a:srgbClr val="0A0B0F"/>
                </a:solidFill>
                <a:latin typeface="Calibri"/>
              </a:rPr>
              <a:t>  —  cada nó é um dimmer RGB que também roteia tráfego para os vizinhos. Não é BLE Mesh SIG: o encaminhamento é feito por inundação controlada sobre conexões GATT persistentes, o que mantém a latência baixa e dispensa provisionamento de chaves.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21408"/>
            <a:ext cx="2688336" cy="129844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04088" y="2249424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706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nós endereçáveis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44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A"/>
                </a:solidFill>
                <a:latin typeface="Calibri"/>
              </a:rPr>
              <a:t>NODE_ID 1..100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21408"/>
            <a:ext cx="2688336" cy="129844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38728" y="2249424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7706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enlaces por nó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044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A"/>
                </a:solidFill>
                <a:latin typeface="Calibri"/>
              </a:rPr>
              <a:t>1 central + 5 periféricos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21408"/>
            <a:ext cx="2688336" cy="129844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73368" y="2249424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20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7706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pacote mesh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044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A"/>
                </a:solidFill>
                <a:latin typeface="Calibri"/>
              </a:rPr>
              <a:t>cabeçalho de 5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121408"/>
            <a:ext cx="2688336" cy="129844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08008" y="2249424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7706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níveis de árvore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30449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A"/>
                </a:solidFill>
                <a:latin typeface="Calibri"/>
              </a:rPr>
              <a:t>diâmetro de 8 saltos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75887"/>
            <a:ext cx="5481827" cy="22677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22376" y="3858768"/>
            <a:ext cx="365760" cy="365760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3913632"/>
            <a:ext cx="45857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Plataformas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4352544"/>
            <a:ext cx="50429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WBZ451</a:t>
            </a:r>
            <a:r>
              <a:rPr sz="1300" b="0" i="0">
                <a:solidFill>
                  <a:srgbClr val="0A0B0F"/>
                </a:solidFill>
                <a:latin typeface="Calibri"/>
              </a:rPr>
              <a:t>  (PIC32CX-BZ2) — projeto BLE_Mesh, build CMake/Ninja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PIC32CX-BZ6</a:t>
            </a:r>
            <a:r>
              <a:rPr sz="1300" b="0" i="0">
                <a:solidFill>
                  <a:srgbClr val="0A0B0F"/>
                </a:solidFill>
                <a:latin typeface="Calibri"/>
              </a:rPr>
              <a:t>  — projeto BLE_MESH_BZ6, mesma base de código mesh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Harmony v3 + FreeRTOS</a:t>
            </a:r>
            <a:r>
              <a:rPr sz="1300" b="0" i="0">
                <a:solidFill>
                  <a:srgbClr val="0A0B0F"/>
                </a:solidFill>
                <a:latin typeface="Calibri"/>
              </a:rPr>
              <a:t>  — stack BLE da Microchip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Núcleo mesh idêntico</a:t>
            </a:r>
            <a:r>
              <a:rPr sz="1300" b="0" i="0">
                <a:solidFill>
                  <a:srgbClr val="0A0B0F"/>
                </a:solidFill>
                <a:latin typeface="Calibri"/>
              </a:rPr>
              <a:t> nos dois alvos; diverge só a camada de plataforma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4203" y="3675887"/>
            <a:ext cx="5481827" cy="226771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423659" y="3858768"/>
            <a:ext cx="365760" cy="365760"/>
          </a:xfrm>
          <a:prstGeom prst="ellipse">
            <a:avLst/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0859" y="3913632"/>
            <a:ext cx="45857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Papéis lógicos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3659" y="4352544"/>
            <a:ext cx="504291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Nó dimmer</a:t>
            </a:r>
            <a:r>
              <a:rPr sz="1300" b="0" i="0">
                <a:solidFill>
                  <a:srgbClr val="0A0B0F"/>
                </a:solidFill>
                <a:latin typeface="Calibri"/>
              </a:rPr>
              <a:t>  — saída RGB, roteador e repetidor da malha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Raiz (root)</a:t>
            </a:r>
            <a:r>
              <a:rPr sz="1300" b="0" i="0">
                <a:solidFill>
                  <a:srgbClr val="0A0B0F"/>
                </a:solidFill>
                <a:latin typeface="Calibri"/>
              </a:rPr>
              <a:t>  — menor node id alcançável; agrega a topologia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App / GUI</a:t>
            </a:r>
            <a:r>
              <a:rPr sz="1300" b="0" i="0">
                <a:solidFill>
                  <a:srgbClr val="0A0B0F"/>
                </a:solidFill>
                <a:latin typeface="Calibri"/>
              </a:rPr>
              <a:t>  — celular conectado a um nó qualquer, com slot reservado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0A0B0F"/>
                </a:solidFill>
                <a:latin typeface="Calibri"/>
              </a:rPr>
              <a:t>Cluster</a:t>
            </a:r>
            <a:r>
              <a:rPr sz="1300" b="0" i="0">
                <a:solidFill>
                  <a:srgbClr val="0A0B0F"/>
                </a:solidFill>
                <a:latin typeface="Calibri"/>
              </a:rPr>
              <a:t>  — grupo de 10 nós, endereçável em bloco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Arquitetura de software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Camadas do firmware e cadência das tarefas periódicas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989320" cy="786384"/>
          </a:xfrm>
          <a:prstGeom prst="roundRect">
            <a:avLst>
              <a:gd name="adj" fmla="val 1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0664" y="1673352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app.c — APP_Tasks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965960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máquina de estados, fila de eventos, cadências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87168"/>
            <a:ext cx="5989320" cy="786384"/>
          </a:xfrm>
          <a:prstGeom prst="roundRect">
            <a:avLst>
              <a:gd name="adj" fmla="val 10000"/>
            </a:avLst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2606039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mesh_routing.c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898648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roteamento, dedup, ACK/retry, heartbeat, topologia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19856"/>
            <a:ext cx="5989320" cy="786384"/>
          </a:xfrm>
          <a:prstGeom prst="roundRect">
            <a:avLst>
              <a:gd name="adj" fmla="val 10000"/>
            </a:avLst>
          </a:prstGeom>
          <a:solidFill>
            <a:srgbClr val="4F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0664" y="3538728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mesh_conn_mgr.c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831336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tabela de conexões, papéis, slots, varredura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352544"/>
            <a:ext cx="5989320" cy="786384"/>
          </a:xfrm>
          <a:prstGeom prst="roundRect">
            <a:avLst>
              <a:gd name="adj" fmla="val 10000"/>
            </a:avLst>
          </a:prstGeom>
          <a:solidFill>
            <a:srgbClr val="C9D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0664" y="4471416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A0B0F"/>
                </a:solidFill>
                <a:latin typeface="Calibri"/>
              </a:rPr>
              <a:t>app_ble/* (Harmony)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764024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A"/>
                </a:solidFill>
                <a:latin typeface="Calibri"/>
              </a:rPr>
              <a:t>GAP, GATT, TRSPS/TRSPC, callbacks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85232"/>
            <a:ext cx="5989320" cy="786384"/>
          </a:xfrm>
          <a:prstGeom prst="roundRect">
            <a:avLst>
              <a:gd name="adj" fmla="val 10000"/>
            </a:avLst>
          </a:prstGeom>
          <a:solidFill>
            <a:srgbClr val="E6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0664" y="5404104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A0B0F"/>
                </a:solidFill>
                <a:latin typeface="Calibri"/>
              </a:rPr>
              <a:t>BLE stack + FreeRTOS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5696712"/>
            <a:ext cx="5532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7A"/>
                </a:solidFill>
                <a:latin typeface="Calibri"/>
              </a:rPr>
              <a:t>controlador, escalonamento de rádio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79" y="1554480"/>
            <a:ext cx="4873752" cy="2212848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050023" y="1755648"/>
            <a:ext cx="310896" cy="310896"/>
          </a:xfrm>
          <a:prstGeom prst="ellipse">
            <a:avLst/>
          </a:prstGeom>
          <a:solidFill>
            <a:srgbClr val="FD7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1792224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Duas cadências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3" y="2231136"/>
            <a:ext cx="439826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D7F20"/>
                </a:solidFill>
                <a:latin typeface="Calibri"/>
              </a:rPr>
              <a:t>250 ms — MESH_Maintenance()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Fila de envio diferido, retransmissão confiável, JOIN, heartbeat e relatório de topologia. É o piso da latência por salto da malha.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</a:pPr>
            <a:r>
              <a:rPr sz="1300" b="1" i="0">
                <a:solidFill>
                  <a:srgbClr val="0E3689"/>
                </a:solidFill>
                <a:latin typeface="Calibri"/>
              </a:rPr>
              <a:t>1 s — descoberta e supervisão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Rescan, tentativa de conexão e varredura de enlaces mortos. Emite comandos HCI: acelerar não faz convergir mais rápido.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79" y="3995928"/>
            <a:ext cx="4873752" cy="214884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050023" y="4178808"/>
            <a:ext cx="365760" cy="365760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3" y="4233672"/>
            <a:ext cx="3941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Caminho de recepção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3" y="4672583"/>
            <a:ext cx="439826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Todo pacote enfileirado no TRSPS é drenado no mesmo evento. O crédito CBFC só retorna em BLE_TRSPS_GetData(): um pacote deixado na fila custa um crédito em definitivo, e depois de 16 o enlace fica mudo em uma das direções.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Topologia: regras de formação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Árvore com uma única aresta de subida por nó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746504" y="2368296"/>
            <a:ext cx="1463040" cy="576072"/>
          </a:xfrm>
          <a:prstGeom prst="line">
            <a:avLst/>
          </a:prstGeom>
          <a:ln w="19050">
            <a:solidFill>
              <a:srgbClr val="D6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843784" y="2368296"/>
            <a:ext cx="365760" cy="576072"/>
          </a:xfrm>
          <a:prstGeom prst="line">
            <a:avLst/>
          </a:prstGeom>
          <a:ln w="19050">
            <a:solidFill>
              <a:srgbClr val="D6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9544" y="2368296"/>
            <a:ext cx="731519" cy="576072"/>
          </a:xfrm>
          <a:prstGeom prst="line">
            <a:avLst/>
          </a:prstGeom>
          <a:ln w="19050">
            <a:solidFill>
              <a:srgbClr val="D6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97864" y="3511296"/>
            <a:ext cx="548640" cy="576072"/>
          </a:xfrm>
          <a:prstGeom prst="line">
            <a:avLst/>
          </a:prstGeom>
          <a:ln w="19050">
            <a:solidFill>
              <a:srgbClr val="D6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295144" y="3511296"/>
            <a:ext cx="548640" cy="576072"/>
          </a:xfrm>
          <a:prstGeom prst="line">
            <a:avLst/>
          </a:prstGeom>
          <a:ln w="19050">
            <a:solidFill>
              <a:srgbClr val="D6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392424" y="3511296"/>
            <a:ext cx="548639" cy="576072"/>
          </a:xfrm>
          <a:prstGeom prst="line">
            <a:avLst/>
          </a:prstGeom>
          <a:ln w="19050">
            <a:solidFill>
              <a:srgbClr val="D6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41063" y="3511296"/>
            <a:ext cx="548641" cy="576072"/>
          </a:xfrm>
          <a:prstGeom prst="line">
            <a:avLst/>
          </a:prstGeom>
          <a:ln w="19050">
            <a:solidFill>
              <a:srgbClr val="D6DE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926079" y="1801368"/>
            <a:ext cx="566928" cy="566928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Oval 13"/>
          <p:cNvSpPr/>
          <p:nvPr/>
        </p:nvSpPr>
        <p:spPr>
          <a:xfrm>
            <a:off x="1463040" y="2944368"/>
            <a:ext cx="566928" cy="566928"/>
          </a:xfrm>
          <a:prstGeom prst="ellipse">
            <a:avLst/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Oval 14"/>
          <p:cNvSpPr/>
          <p:nvPr/>
        </p:nvSpPr>
        <p:spPr>
          <a:xfrm>
            <a:off x="2560320" y="2944368"/>
            <a:ext cx="566928" cy="566928"/>
          </a:xfrm>
          <a:prstGeom prst="ellipse">
            <a:avLst/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0" y="2944368"/>
            <a:ext cx="566928" cy="566928"/>
          </a:xfrm>
          <a:prstGeom prst="ellipse">
            <a:avLst/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087368"/>
            <a:ext cx="566928" cy="566928"/>
          </a:xfrm>
          <a:prstGeom prst="ellipse">
            <a:avLst/>
          </a:prstGeom>
          <a:solidFill>
            <a:srgbClr val="8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Oval 17"/>
          <p:cNvSpPr/>
          <p:nvPr/>
        </p:nvSpPr>
        <p:spPr>
          <a:xfrm>
            <a:off x="2011680" y="4087368"/>
            <a:ext cx="566928" cy="566928"/>
          </a:xfrm>
          <a:prstGeom prst="ellipse">
            <a:avLst/>
          </a:prstGeom>
          <a:solidFill>
            <a:srgbClr val="8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9" name="Oval 18"/>
          <p:cNvSpPr/>
          <p:nvPr/>
        </p:nvSpPr>
        <p:spPr>
          <a:xfrm>
            <a:off x="3108960" y="4087368"/>
            <a:ext cx="566928" cy="566928"/>
          </a:xfrm>
          <a:prstGeom prst="ellipse">
            <a:avLst/>
          </a:prstGeom>
          <a:solidFill>
            <a:srgbClr val="8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0" name="Oval 19"/>
          <p:cNvSpPr/>
          <p:nvPr/>
        </p:nvSpPr>
        <p:spPr>
          <a:xfrm>
            <a:off x="4206240" y="4087368"/>
            <a:ext cx="566928" cy="566928"/>
          </a:xfrm>
          <a:prstGeom prst="ellipse">
            <a:avLst/>
          </a:prstGeom>
          <a:solidFill>
            <a:srgbClr val="8FA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224528" y="3127248"/>
            <a:ext cx="530352" cy="100584"/>
          </a:xfrm>
          <a:prstGeom prst="line">
            <a:avLst/>
          </a:prstGeom>
          <a:ln w="19050">
            <a:solidFill>
              <a:srgbClr val="FD7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754880" y="2944368"/>
            <a:ext cx="841248" cy="365760"/>
          </a:xfrm>
          <a:prstGeom prst="roundRect">
            <a:avLst>
              <a:gd name="adj" fmla="val 50000"/>
            </a:avLst>
          </a:prstGeom>
          <a:solidFill>
            <a:srgbClr val="FD7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0060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0E3689"/>
                </a:solidFill>
                <a:latin typeface="Calibri"/>
              </a:rPr>
              <a:t>depth 0 (raiz)</a:t>
            </a:r>
            <a:r>
              <a:rPr sz="1100" b="0" i="0">
                <a:solidFill>
                  <a:srgbClr val="D6DEEC"/>
                </a:solidFill>
                <a:latin typeface="Calibri"/>
              </a:rPr>
              <a:t>   •   </a:t>
            </a:r>
            <a:r>
              <a:rPr sz="1100" b="1" i="0">
                <a:solidFill>
                  <a:srgbClr val="1D9CE4"/>
                </a:solidFill>
                <a:latin typeface="Calibri"/>
              </a:rPr>
              <a:t>depth 1</a:t>
            </a:r>
            <a:r>
              <a:rPr sz="1100" b="0" i="0">
                <a:solidFill>
                  <a:srgbClr val="D6DEEC"/>
                </a:solidFill>
                <a:latin typeface="Calibri"/>
              </a:rPr>
              <a:t>   •   </a:t>
            </a:r>
            <a:r>
              <a:rPr sz="1100" b="1" i="0">
                <a:solidFill>
                  <a:srgbClr val="6F88B6"/>
                </a:solidFill>
                <a:latin typeface="Calibri"/>
              </a:rPr>
              <a:t>depth 2</a:t>
            </a:r>
            <a:r>
              <a:rPr sz="1100" b="0" i="0">
                <a:solidFill>
                  <a:srgbClr val="D6DEEC"/>
                </a:solidFill>
                <a:latin typeface="Calibri"/>
              </a:rPr>
              <a:t>   •   </a:t>
            </a:r>
            <a:r>
              <a:rPr sz="1100" b="1" i="0">
                <a:solidFill>
                  <a:srgbClr val="FD7F20"/>
                </a:solidFill>
                <a:latin typeface="Calibri"/>
              </a:rPr>
              <a:t>slot do app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B667A"/>
                </a:solidFill>
                <a:latin typeface="Calibri"/>
              </a:rPr>
              <a:t>A raiz é o menor node id alcançável. root e depth propagam por JOIN_ACCEPT e heartbeat.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572768"/>
            <a:ext cx="5742431" cy="111556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144768" y="1755648"/>
            <a:ext cx="292608" cy="292608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1746504"/>
            <a:ext cx="493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Uma aresta de subida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2057400"/>
            <a:ext cx="493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MESH_MAX_CENTRAL = 1. Cada nó abre no máximo uma conexão como central, o que torna a direção determinística e evita tempestades de conexão recíproca.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2807208"/>
            <a:ext cx="5742431" cy="111556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144768" y="2990088"/>
            <a:ext cx="292608" cy="292608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2980944"/>
            <a:ext cx="493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Só para node id menor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291840"/>
            <a:ext cx="493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Um nó só sobe para um id inferior. A relação pai é estritamente decrescente, o que impede ciclo e a contagem ao infinito de depth.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4041648"/>
            <a:ext cx="5742431" cy="111556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144768" y="4224528"/>
            <a:ext cx="292608" cy="292608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4215384"/>
            <a:ext cx="493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Quatro filhos + o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8816" y="4526280"/>
            <a:ext cx="493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MESH_MAX_PERIPHERAL = 5, dos quais 4 são filhos de malha. O quinto slot fica reservado ao celular e não pode ser tomado por um nó.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5276088"/>
            <a:ext cx="5742431" cy="111556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144768" y="5458968"/>
            <a:ext cx="292608" cy="292608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5449824"/>
            <a:ext cx="4937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Subida excepcional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8816" y="5760720"/>
            <a:ext cx="493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Um nó isolado pode abrir aresta para id maior. Sem isso os slots dos ids mais altos ficam inalcançáveis e a rede se parte.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Topologia: capacidade e profundidade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Quantos nós cabem por nível com fator de ramificação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99616"/>
          <a:ext cx="667512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691640"/>
                <a:gridCol w="2148840"/>
              </a:tblGrid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Profundidade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Nós no nível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acumulado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Observação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0B0F"/>
                          </a:solidFill>
                          <a:latin typeface="Calibri"/>
                        </a:rPr>
                        <a:t>0 (raiz)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menor node id alcançável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0B0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filhos diretos da raiz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0B0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cobre uma bancada típica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0B0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ainda abaixo de 100 nós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0B0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341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profundidade usada por 100 nós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33087"/>
            <a:ext cx="6675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É o diâmetro, não a profundidade, que dimensiona o TTL.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mesh_ForwardAll inunda por todos os enlaces, inclusive as arestas cruzadas, então o alcance necessário é o diâmetro do grafo de conexões. Com 100 nós em profundidade 4, folha a folha são 8 saltos. MESH_MAX_TTL = 32 dá margem de 4×.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300"/>
              </a:spcAft>
            </a:pPr>
            <a:r>
              <a:rPr sz="1250" b="1" i="0">
                <a:solidFill>
                  <a:srgbClr val="FD7F20"/>
                </a:solidFill>
                <a:latin typeface="Calibri"/>
              </a:rPr>
              <a:t>Exceção: implantação fisicamente linear. </a:t>
            </a:r>
            <a:r>
              <a:rPr sz="1250" b="0" i="0">
                <a:solidFill>
                  <a:srgbClr val="0A0B0F"/>
                </a:solidFill>
                <a:latin typeface="Calibri"/>
              </a:rPr>
              <a:t>Num corredor de 100 luminárias o diâmetro é o próprio comprimento da cadeia, e o TTL precisa excedê-lo.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0" y="1499616"/>
            <a:ext cx="4187951" cy="4370832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35824" y="1719072"/>
            <a:ext cx="310896" cy="310896"/>
          </a:xfrm>
          <a:prstGeom prst="ellipse">
            <a:avLst/>
          </a:prstGeom>
          <a:solidFill>
            <a:srgbClr val="FD7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755648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Limites estruturais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2212848"/>
            <a:ext cx="3712463" cy="3520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Sem redundância de pai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Com uma única aresta de subida, a perda de um nó deixa órfã toda a sua subárvore de uma vez. É escolha de topologia, não de dimensionamento.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seq_num de 8 bits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Um octeto por origem no cabeçalho de fio. Com 100 nós e tráfego pesado o espaço de sequência fica apertado; alargá-lo quebra a compatibilidade com a GUI.</a:t>
            </a:r>
          </a:p>
          <a:p>
            <a:pPr algn="l"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Fila de eventos do app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APP_Msg_T ocupa 260 B, e a fila de 64 consome 16,6 KB dos 40 KB de heap do FreeRTOS — 41% do heap num único objeto.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Protocolo: formato do pacote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Cabeçalho fixo de 5 bytes seguido de payload opcional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1298448" cy="1060704"/>
          </a:xfrm>
          <a:prstGeom prst="roundRect">
            <a:avLst>
              <a:gd name="adj" fmla="val 1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57784" y="1719072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dst_id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011680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BCCEE"/>
                </a:solidFill>
                <a:latin typeface="Calibri"/>
              </a:rPr>
              <a:t>1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249424"/>
            <a:ext cx="1225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BBCCEE"/>
                </a:solidFill>
                <a:latin typeface="Calibri"/>
              </a:rPr>
              <a:t>destino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2808" y="1572768"/>
            <a:ext cx="1298448" cy="1060704"/>
          </a:xfrm>
          <a:prstGeom prst="roundRect">
            <a:avLst>
              <a:gd name="adj" fmla="val 1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7672" y="1719072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src_id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011680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BCCEE"/>
                </a:solidFill>
                <a:latin typeface="Calibri"/>
              </a:rPr>
              <a:t>1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9384" y="2249424"/>
            <a:ext cx="1225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BBCCEE"/>
                </a:solidFill>
                <a:latin typeface="Calibri"/>
              </a:rPr>
              <a:t>origem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82696" y="1572768"/>
            <a:ext cx="1298448" cy="1060704"/>
          </a:xfrm>
          <a:prstGeom prst="roundRect">
            <a:avLst>
              <a:gd name="adj" fmla="val 1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37560" y="1719072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seq_num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011680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BCCEE"/>
                </a:solidFill>
                <a:latin typeface="Calibri"/>
              </a:rPr>
              <a:t>1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2249424"/>
            <a:ext cx="1225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BBCCEE"/>
                </a:solidFill>
                <a:latin typeface="Calibri"/>
              </a:rPr>
              <a:t>sequência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72584" y="1572768"/>
            <a:ext cx="1298448" cy="1060704"/>
          </a:xfrm>
          <a:prstGeom prst="roundRect">
            <a:avLst>
              <a:gd name="adj" fmla="val 1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27448" y="1719072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ttl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2011680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BCCEE"/>
                </a:solidFill>
                <a:latin typeface="Calibri"/>
              </a:rPr>
              <a:t>1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249424"/>
            <a:ext cx="1225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BBCCEE"/>
                </a:solidFill>
                <a:latin typeface="Calibri"/>
              </a:rPr>
              <a:t>saltos restantes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62472" y="1572768"/>
            <a:ext cx="1298448" cy="1060704"/>
          </a:xfrm>
          <a:prstGeom prst="roundRect">
            <a:avLst>
              <a:gd name="adj" fmla="val 1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17336" y="1719072"/>
            <a:ext cx="1188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ourier New"/>
              </a:rPr>
              <a:t>cmd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7336" y="2011680"/>
            <a:ext cx="11887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BBCCEE"/>
                </a:solidFill>
                <a:latin typeface="Calibri"/>
              </a:rPr>
              <a:t>1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2249424"/>
            <a:ext cx="12252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BBCCEE"/>
                </a:solidFill>
                <a:latin typeface="Calibri"/>
              </a:rPr>
              <a:t>comando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572768"/>
            <a:ext cx="4233671" cy="106070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 w="12700">
            <a:solidFill>
              <a:srgbClr val="D6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43800" y="1828800"/>
            <a:ext cx="4050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3689"/>
                </a:solidFill>
                <a:latin typeface="Courier New"/>
              </a:rPr>
              <a:t>payload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121408"/>
            <a:ext cx="40507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67A"/>
                </a:solidFill>
                <a:latin typeface="Calibri"/>
              </a:rPr>
              <a:t>0 a 15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779776"/>
            <a:ext cx="111831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D7F20"/>
                </a:solidFill>
                <a:latin typeface="Courier New"/>
              </a:rPr>
              <a:t>MESH_MAX_PACKET_SIZE = 20 B</a:t>
            </a:r>
            <a:r>
              <a:rPr sz="1250" b="0" i="0">
                <a:solidFill>
                  <a:srgbClr val="0A0B0F"/>
                </a:solidFill>
                <a:latin typeface="Calibri"/>
              </a:rPr>
              <a:t>   cabe inteiro em uma notificação GATT, sem fragmentação.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218688"/>
            <a:ext cx="3630167" cy="201168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04088" y="340156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seq_num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3767328"/>
            <a:ext cx="3227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Anti-replay por origem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4096512"/>
            <a:ext cx="322783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Cache indexado por node id (101 entradas), com um bitmap de 64 posições por origem. Entradas expiram em 10 s, e a aritmética é em int8_t para tolerar o wrap do contador.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79391" y="3218688"/>
            <a:ext cx="3630167" cy="201168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480559" y="340156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ttl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59" y="3767328"/>
            <a:ext cx="3227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Raio da inundação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59" y="4096512"/>
            <a:ext cx="322783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Decrementado a cada salto; em zero o pacote morre. Não é o TTL que impede repetição — isso é papel do cache de duplicatas. REPAIR_REQUEST sai com TTL 2, de propósito.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5863" y="3218688"/>
            <a:ext cx="3630167" cy="201168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8257031" y="340156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ourier New"/>
              </a:rPr>
              <a:t>cmd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1" y="3767328"/>
            <a:ext cx="3227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Semântica do payload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1" y="4096512"/>
            <a:ext cx="3227831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Determina o formato dos bytes seguintes e se o comando exige ACK. SET_DIMMER, GET_STATUS, IDENTIFY, PROVISION e UNPROVISION são confirmados.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Protocolo: comandos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Quinze códigos em dois grupos funcionais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44751"/>
            <a:ext cx="54361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Aplicação e controle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73936"/>
          <a:ext cx="5440679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874519"/>
                <a:gridCol w="2788920"/>
              </a:tblGrid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Cód.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Comando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Função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SET_DIMMER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define R, G, B do nó destino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0x02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GET_STATUS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consulta cor e número de enlaces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STATUS_RESP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resposta de estado (4 B)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0x04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IDENTIFY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pisca o LED para localizar o nó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PROVISION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grava node id e reinicia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0x06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UNPROVISION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apaga node id e reinicia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48615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ACK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confirma origem e seq_num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49923" y="1444751"/>
            <a:ext cx="54361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D9CE4"/>
                </a:solidFill>
                <a:latin typeface="Calibri"/>
              </a:rPr>
              <a:t>Formação e manutenção da malha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49923" y="1773936"/>
          <a:ext cx="54406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2560320"/>
              </a:tblGrid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Cód.</a:t>
                      </a:r>
                    </a:p>
                  </a:txBody>
                  <a:tcPr marL="82296" marR="54864" marT="27432" marB="27432" anchor="ctr">
                    <a:solidFill>
                      <a:srgbClr val="1D9C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Comando</a:t>
                      </a:r>
                    </a:p>
                  </a:txBody>
                  <a:tcPr marL="82296" marR="54864" marT="27432" marB="27432" anchor="ctr">
                    <a:solidFill>
                      <a:srgbClr val="1D9C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Função</a:t>
                      </a:r>
                    </a:p>
                  </a:txBody>
                  <a:tcPr marL="82296" marR="54864" marT="27432" marB="27432" anchor="ctr">
                    <a:solidFill>
                      <a:srgbClr val="1D9CE4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0x08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HELLO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anúncio de identidade no enlace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0x09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JOIN_REQUEST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pede admissão como filho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0x0A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JOIN_ACCEPT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admite e informa root/depth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0x0B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JOIN_REDIRECT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recusa e sugere outro pai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0x0C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HEARTBEAT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presença + root/depth + token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0x0F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HEARTBEAT_ACK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devolve o token do enlace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TOPOLOGY_REPORT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agregado da subárvore ao pai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0x0E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ourier New"/>
                        </a:rPr>
                        <a:t>REPAIR_REQUEST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A0B0F"/>
                          </a:solidFill>
                          <a:latin typeface="Calibri"/>
                        </a:rPr>
                        <a:t>aviso de perda de pai (TTL 2)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138928"/>
            <a:ext cx="1118311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3689"/>
                </a:solidFill>
                <a:latin typeface="Calibri"/>
              </a:rPr>
              <a:t>Confirmação seletiva.</a:t>
            </a:r>
            <a:r>
              <a:rPr sz="1250" b="0" i="0">
                <a:solidFill>
                  <a:srgbClr val="0A0B0F"/>
                </a:solidFill>
                <a:latin typeface="Calibri"/>
              </a:rPr>
              <a:t>  Só o unicast dos comandos de aplicação entra na fila confiável (MESH_TX_QUEUE_SIZE = 24, ACK em 2 s, até 3 retransmissões com backoff exponencial). Broadcast e cluster são best effort de propósito: o remetente não tem a lista de membros, e o GATT já garante entrega em cada enlace físico.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Protocolo: endereçamento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Quatro faixas no campo dst_id de um byte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686049" cy="219456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04088" y="1773936"/>
            <a:ext cx="2283713" cy="347472"/>
          </a:xfrm>
          <a:prstGeom prst="roundRect">
            <a:avLst>
              <a:gd name="adj" fmla="val 5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urier New"/>
              </a:rPr>
              <a:t>0x01 – 0x64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49424"/>
            <a:ext cx="22837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3689"/>
                </a:solidFill>
                <a:latin typeface="Calibri"/>
              </a:rPr>
              <a:t>Unicast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33472"/>
            <a:ext cx="22837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Node id de 1 a 100. Entregue ao nó exato; gera ACK quando o comando exige.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5274" y="1554480"/>
            <a:ext cx="2686049" cy="219456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536442" y="1773936"/>
            <a:ext cx="2283713" cy="347472"/>
          </a:xfrm>
          <a:prstGeom prst="roundRect">
            <a:avLst>
              <a:gd name="adj" fmla="val 50000"/>
            </a:avLst>
          </a:prstGeom>
          <a:solidFill>
            <a:srgbClr val="FD7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urier New"/>
              </a:rPr>
              <a:t>0x00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6442" y="2249424"/>
            <a:ext cx="22837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3689"/>
                </a:solidFill>
                <a:latin typeface="Calibri"/>
              </a:rPr>
              <a:t>App / 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6442" y="2633472"/>
            <a:ext cx="22837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Reservado ao celular. O nó que recebe reescreve a origem com o próprio id antes de injetar na malha.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7627" y="1554480"/>
            <a:ext cx="2686049" cy="219456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368795" y="1773936"/>
            <a:ext cx="2283713" cy="347472"/>
          </a:xfrm>
          <a:prstGeom prst="roundRect">
            <a:avLst>
              <a:gd name="adj" fmla="val 50000"/>
            </a:avLst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urier New"/>
              </a:rPr>
              <a:t>0xC0 – 0xC9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5" y="2249424"/>
            <a:ext cx="22837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3689"/>
                </a:solidFill>
                <a:latin typeface="Calibri"/>
              </a:rPr>
              <a:t>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8795" y="2633472"/>
            <a:ext cx="22837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Dez grupos de dez nós: GET_CLUSTER(id) = (id−1)/10. Cobre exatamente os 100 nós endereçáveis.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9982" y="1554480"/>
            <a:ext cx="2686049" cy="219456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201150" y="1773936"/>
            <a:ext cx="2283713" cy="347472"/>
          </a:xfrm>
          <a:prstGeom prst="roundRect">
            <a:avLst>
              <a:gd name="adj" fmla="val 50000"/>
            </a:avLst>
          </a:prstGeom>
          <a:solidFill>
            <a:srgbClr val="5EB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ourier New"/>
              </a:rPr>
              <a:t>0xFF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1150" y="2249424"/>
            <a:ext cx="22837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3689"/>
                </a:solidFill>
                <a:latin typeface="Calibri"/>
              </a:rPr>
              <a:t>Broadcast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50" y="2633472"/>
            <a:ext cx="2283713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Todos os nós. Caminho recomendado para cenas: não ocupa a fila de 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95928"/>
            <a:ext cx="11183111" cy="1417320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40664" y="4206240"/>
            <a:ext cx="310896" cy="310896"/>
          </a:xfrm>
          <a:prstGeom prst="ellipse">
            <a:avLst/>
          </a:prstGeom>
          <a:solidFill>
            <a:srgbClr val="FD7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33672"/>
            <a:ext cx="10268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Caminho de um comando vindo do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" y="4645152"/>
            <a:ext cx="1070762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O nó conectado ao celular reescreve src_id com o próprio id, atribui novo seq_num e TTL cheio, e registra o pacote no próprio cache de duplicatas antes de inundar. Sem essa reescrita o pacote voltaria ao remetente e seria reexecutado; com ela, uma rajada de slider não se multiplica pela rede.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Entrada na rede (JOIN)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Do anúncio até o enlace utilizável para encaminhamento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75303" cy="184708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22376" y="1828800"/>
            <a:ext cx="365760" cy="365760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1883664"/>
            <a:ext cx="2660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Anúncio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359152"/>
            <a:ext cx="313639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Cada nó anuncia DIMMER_xx mais dados de fabricante 0xFEDA com flags, slots livres, root e depth.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1" y="239572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D6DEEC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609344"/>
            <a:ext cx="3575303" cy="184708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26280" y="1828800"/>
            <a:ext cx="365760" cy="365760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883664"/>
            <a:ext cx="2660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Descoberta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59152"/>
            <a:ext cx="313639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Janela de scan de 6 s a 20% de duty. Candidatos ordenados por slots livres, root menor, depth menor, falhas e RSSI.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0415" y="239572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D6DEEC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8" y="1609344"/>
            <a:ext cx="3575303" cy="184708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30184" y="1828800"/>
            <a:ext cx="365760" cy="365760"/>
          </a:xfrm>
          <a:prstGeom prst="ellipse">
            <a:avLst/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883664"/>
            <a:ext cx="2660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Conexão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359152"/>
            <a:ext cx="313639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BLE_GAP_CreateConnection para o melhor candidato de id inferior. Uma guarda de 15 s cancela a tentativa presa.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12463"/>
            <a:ext cx="3575303" cy="184708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22376" y="3931920"/>
            <a:ext cx="365760" cy="365760"/>
          </a:xfrm>
          <a:prstGeom prst="ellipse">
            <a:avLst/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6" y="3986783"/>
            <a:ext cx="2660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GATT + CBFC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4462272"/>
            <a:ext cx="313639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Descoberta de serviços e handshake TRSPC. Só a primeira escrita aceita prova que a direção está aberta.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1" y="449884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D6DEEC"/>
                </a:solidFill>
                <a:latin typeface="Calib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3712463"/>
            <a:ext cx="3575303" cy="184708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526280" y="3931920"/>
            <a:ext cx="365760" cy="365760"/>
          </a:xfrm>
          <a:prstGeom prst="ellipse">
            <a:avLst/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3986783"/>
            <a:ext cx="2660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JOIN_REQUEST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462272"/>
            <a:ext cx="313639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Enviado com id, root e depth. Retentado com backoff exponencial até o enlace ficar topologyReady.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0415" y="449884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D6DEEC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0728" y="3712463"/>
            <a:ext cx="3575303" cy="184708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330184" y="3931920"/>
            <a:ext cx="365760" cy="365760"/>
          </a:xfrm>
          <a:prstGeom prst="ellipse">
            <a:avLst/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3986783"/>
            <a:ext cx="2660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JOIN_ACCEPT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4" y="4462272"/>
            <a:ext cx="3136391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O pai admite se há slot, devolve root e depth e atualiza o anúncio. Sem slot, responde JOIN_REDIRECT e desconecta.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Confiabilidade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Três mecanismos independentes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17904"/>
            <a:ext cx="3617976" cy="336499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04088" y="1737360"/>
            <a:ext cx="3215640" cy="402336"/>
          </a:xfrm>
          <a:prstGeom prst="roundRect">
            <a:avLst>
              <a:gd name="adj" fmla="val 5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Anti-duplicata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340863"/>
            <a:ext cx="321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3689"/>
                </a:solidFill>
                <a:latin typeface="Calibri"/>
              </a:rPr>
              <a:t>Cache por origem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51759"/>
            <a:ext cx="3215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Indexado por node id (101 entradas), não um FIFO compartilhado: um vizinho falante não despeja o histórico dos outros.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3584448"/>
            <a:ext cx="321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3689"/>
                </a:solidFill>
                <a:latin typeface="Calibri"/>
              </a:rPr>
              <a:t>Janela de 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895344"/>
            <a:ext cx="3215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Bitmap uint64_t com aritmética de sequência em int8_t; 64 é o teto dos dois. Entradas expiram em 10 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5488" y="1517904"/>
            <a:ext cx="3617976" cy="336499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486656" y="1737360"/>
            <a:ext cx="3215640" cy="402336"/>
          </a:xfrm>
          <a:prstGeom prst="roundRect">
            <a:avLst>
              <a:gd name="adj" fmla="val 50000"/>
            </a:avLst>
          </a:prstGeom>
          <a:solidFill>
            <a:srgbClr val="1D9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Entrega confiável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6656" y="2340863"/>
            <a:ext cx="321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3689"/>
                </a:solidFill>
                <a:latin typeface="Calibri"/>
              </a:rPr>
              <a:t>Fila de 24 comandos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656" y="2651759"/>
            <a:ext cx="3215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Só unicast de aplicação. Um RGB pode despejar tráfego administrativo, nunca outro RGB.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656" y="3584448"/>
            <a:ext cx="321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3689"/>
                </a:solidFill>
                <a:latin typeface="Calibri"/>
              </a:rPr>
              <a:t>ACK em 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656" y="3895344"/>
            <a:ext cx="3215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Até 3 retransmissões com backoff 2/4/8 s. O piso da latência por salto é a cadência de 250 ms, não o intervalo de conexão.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8056" y="1517904"/>
            <a:ext cx="3617976" cy="3364992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269224" y="1737360"/>
            <a:ext cx="3215640" cy="402336"/>
          </a:xfrm>
          <a:prstGeom prst="roundRect">
            <a:avLst>
              <a:gd name="adj" fmla="val 50000"/>
            </a:avLst>
          </a:prstGeom>
          <a:solidFill>
            <a:srgbClr val="4F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Envio diferido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9224" y="2340863"/>
            <a:ext cx="321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3689"/>
                </a:solidFill>
                <a:latin typeface="Calibri"/>
              </a:rPr>
              <a:t>Fila de enlace de 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9224" y="2651759"/>
            <a:ext cx="3215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Compartilhada. Um fan-out de broadcast pode ocupar um slot por enlace de uma só vez.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9224" y="3584448"/>
            <a:ext cx="3215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3689"/>
                </a:solidFill>
                <a:latin typeface="Calibri"/>
              </a:rPr>
              <a:t>Expira em 8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9224" y="3895344"/>
            <a:ext cx="3215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A0B0F"/>
                </a:solidFill>
                <a:latin typeface="Calibri"/>
              </a:rPr>
              <a:t>Cobre a escada de tentativas (100 ms &lt;&lt; n). Só congestionamento é enfileirado: recusa estrutural falharia igual na retentativa.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120640"/>
            <a:ext cx="11183111" cy="1207008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40664" y="5321808"/>
            <a:ext cx="310896" cy="310896"/>
          </a:xfrm>
          <a:prstGeom prst="ellipse">
            <a:avLst/>
          </a:prstGeom>
          <a:solidFill>
            <a:srgbClr val="FD7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349240"/>
            <a:ext cx="10268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Por que broadcast não é confirmado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5742432"/>
            <a:ext cx="107076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O remetente não tem a lista de membros da rede, então não há a quem cobrar ACK — e cada enlace físico já é confiável por GATT/CBFC. A repetição fica com o originador (s_broadcastRetry: até 3 reenvios espaçados 800 ms), não com a malha.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Supervisão de enlace e parâmetros de conexão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Como um enlace morto é detectado, e por que o app precisa de parâmetros próprios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17904"/>
            <a:ext cx="2672333" cy="210312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04088" y="1700784"/>
            <a:ext cx="226999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E3689"/>
                </a:solidFill>
                <a:latin typeface="Calibri"/>
              </a:rPr>
              <a:t>30 s ± 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39696"/>
            <a:ext cx="226999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D7F20"/>
                </a:solidFill>
                <a:latin typeface="Calibri"/>
              </a:rPr>
              <a:t>Heartbeat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50591"/>
            <a:ext cx="226999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Token por enlace, ecoado em HEARTBEAT_ACK. Prova que as duas direções da aplicação estão vivas — o evento de conexão sozinho não detecta caminho TRSP travado.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9846" y="1517904"/>
            <a:ext cx="2672333" cy="210312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41014" y="1700784"/>
            <a:ext cx="226999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E3689"/>
                </a:solidFill>
                <a:latin typeface="Calibri"/>
              </a:rPr>
              <a:t>3 faltas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2139696"/>
            <a:ext cx="226999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D7F20"/>
                </a:solidFill>
                <a:latin typeface="Calibri"/>
              </a:rPr>
              <a:t>Desconexão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1014" y="2450591"/>
            <a:ext cx="226999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Três ACKs perdidos derrubam o enlace. Qualquer pacote válido também conta como presença.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6771" y="1517904"/>
            <a:ext cx="2672333" cy="210312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77939" y="1700784"/>
            <a:ext cx="226999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E3689"/>
                </a:solidFill>
                <a:latin typeface="Calibri"/>
              </a:rPr>
              <a:t>90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7939" y="2139696"/>
            <a:ext cx="226999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D7F20"/>
                </a:solidFill>
                <a:latin typeface="Calibri"/>
              </a:rPr>
              <a:t>Enlace morto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39" y="2450591"/>
            <a:ext cx="226999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MESH_LINK_DEAD_TICKS sem atividade nenhuma derruba o enlace, independentemente do heartbeat.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3698" y="1517904"/>
            <a:ext cx="2672333" cy="210312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14866" y="1700784"/>
            <a:ext cx="226999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E3689"/>
                </a:solidFill>
                <a:latin typeface="Calibri"/>
              </a:rPr>
              <a:t>30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4866" y="2139696"/>
            <a:ext cx="226999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D7F20"/>
                </a:solidFill>
                <a:latin typeface="Calibri"/>
              </a:rPr>
              <a:t>Varredura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4866" y="2450591"/>
            <a:ext cx="226999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Enlace que nunca ficou utilizável é descartado — exceto o do app, que não tem JOIN a completar.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3913631"/>
          <a:ext cx="653796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331720"/>
                <a:gridCol w="2240280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Parâmetro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Enlace de malha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Enlace do app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0B0F"/>
                          </a:solidFill>
                          <a:latin typeface="Calibri"/>
                        </a:rPr>
                        <a:t>Intervalo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40 – 80 ms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30 – 50 ms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0B0F"/>
                          </a:solidFill>
                          <a:latin typeface="Calibri"/>
                        </a:rPr>
                        <a:t>Peripheral latency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0B0F"/>
                          </a:solidFill>
                          <a:latin typeface="Calibri"/>
                        </a:rPr>
                        <a:t>Supervision timeout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20 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5 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A0B0F"/>
                          </a:solidFill>
                          <a:latin typeface="Calibri"/>
                        </a:rPr>
                        <a:t>Definido por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central, no CreateConnection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A0B0F"/>
                          </a:solidFill>
                          <a:latin typeface="Calibri"/>
                        </a:rPr>
                        <a:t>periférico, após TX_OPENED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360920" y="3913631"/>
            <a:ext cx="4325111" cy="1874519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580376" y="4096512"/>
            <a:ext cx="292608" cy="292608"/>
          </a:xfrm>
          <a:prstGeom prst="ellipse">
            <a:avLst/>
          </a:prstGeom>
          <a:solidFill>
            <a:srgbClr val="FD7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46136" y="4114800"/>
            <a:ext cx="3520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Por que o app difere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4480560"/>
            <a:ext cx="388619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Com latency 0, todo evento de conexão perdido conta contra o timeout — e o nó perde eventos: seis enlaces, anúncio permanente e janelas de scan não cabem no rádio. Latency 4 torna o salto legal em vez de fatal. E 20 s de supervision timeout está fora do que o celular aceita (a Apple limita a 6 s), então o pedido era simplesmente recusado.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Tempos de formação de rede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Orçamento derivado dos temporizadores — estimativa, não medição de bancada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44751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3689"/>
                </a:solidFill>
                <a:latin typeface="Calibri"/>
              </a:rPr>
              <a:t>Orçamento por onda de crescimento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92224"/>
            <a:ext cx="5257800" cy="56692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88366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0B0F"/>
                </a:solidFill>
                <a:latin typeface="Calibri"/>
              </a:rPr>
              <a:t>Janela de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67A"/>
                </a:solidFill>
                <a:latin typeface="Courier New"/>
              </a:rPr>
              <a:t>MESH_SCAN_DURATION_MS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3852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6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32304"/>
            <a:ext cx="5257800" cy="56692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252374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0B0F"/>
                </a:solidFill>
                <a:latin typeface="Calibri"/>
              </a:rPr>
              <a:t>Aquisição da conexão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67A"/>
                </a:solidFill>
                <a:latin typeface="Courier New"/>
              </a:rPr>
              <a:t>anúncio 200-400 ms, scan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786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2 – 5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72384"/>
            <a:ext cx="5257800" cy="56692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316382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0B0F"/>
                </a:solidFill>
                <a:latin typeface="Calibri"/>
              </a:rPr>
              <a:t>GATT + CBFC + JOIN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67A"/>
                </a:solidFill>
                <a:latin typeface="Courier New"/>
              </a:rPr>
              <a:t>retry com backoff exponencial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1868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3 – 8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257800" cy="566928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80390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D7F20"/>
                </a:solidFill>
                <a:latin typeface="Calibri"/>
              </a:rPr>
              <a:t>Uma onda, caso limpo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233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67A"/>
                </a:solidFill>
                <a:latin typeface="Courier New"/>
              </a:rPr>
              <a:t>soma dos três acima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85876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D7F20"/>
                </a:solidFill>
                <a:latin typeface="Calibri"/>
              </a:rPr>
              <a:t>11 – 19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352544"/>
            <a:ext cx="5257800" cy="56692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" y="444398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0B0F"/>
                </a:solidFill>
                <a:latin typeface="Calibri"/>
              </a:rPr>
              <a:t>Rescan após falha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634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67A"/>
                </a:solidFill>
                <a:latin typeface="Courier New"/>
              </a:rPr>
              <a:t>MESH_RESCAN_PERIOD_TICKS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49884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+30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992624"/>
            <a:ext cx="5257800" cy="566928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5084064"/>
            <a:ext cx="2514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0B0F"/>
                </a:solidFill>
                <a:latin typeface="Calibri"/>
              </a:rPr>
              <a:t>Backoff por recusa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035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67A"/>
                </a:solidFill>
                <a:latin typeface="Courier New"/>
              </a:rPr>
              <a:t>15 s x nº de falhas, até 5x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13892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15 – 75 s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035040" y="1572768"/>
          <a:ext cx="5650991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6035040" y="4736592"/>
            <a:ext cx="5650991" cy="1280160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254496" y="4919472"/>
            <a:ext cx="292608" cy="292608"/>
          </a:xfrm>
          <a:prstGeom prst="ellipse">
            <a:avLst/>
          </a:prstGeom>
          <a:solidFill>
            <a:srgbClr val="FD7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0256" y="4937760"/>
            <a:ext cx="50109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3689"/>
                </a:solidFill>
                <a:latin typeface="Calibri"/>
              </a:rPr>
              <a:t>Como ler estes números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5266944"/>
            <a:ext cx="514807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Derivados do orçamento de temporizadores ao lado, não medidos em hardware. A formação é amplamente paralela: o gargalo é a disputa por slots dos ids baixos e a contenção de rádio, não o número de nós. Meça com a linha MESH FORMED de cada nó.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Indicador de rede formada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Critério local conservador, exposto em três lugares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17904"/>
            <a:ext cx="5760720" cy="182880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22376" y="1700784"/>
            <a:ext cx="310896" cy="310896"/>
          </a:xfrm>
          <a:prstGeom prst="ellipse">
            <a:avLst/>
          </a:prstGeom>
          <a:solidFill>
            <a:srgbClr val="5EB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72821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Critério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139696"/>
            <a:ext cx="5349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Todo enlace de malha do nó está isReady e topologyReady;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existe pelo menos um enlace utilizável;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o nó tem lugar na árvore (tem pai ou é a raiz);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0A0B0F"/>
                </a:solidFill>
                <a:latin typeface="Calibri"/>
              </a:rPr>
              <a:t>e isso se manteve por 5 s seguidos.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9" y="1517904"/>
            <a:ext cx="5148071" cy="1828800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57416" y="1700784"/>
            <a:ext cx="46908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Por que o atraso de 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7416" y="2103120"/>
            <a:ext cx="469087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A0B0F"/>
                </a:solidFill>
                <a:latin typeface="Calibri"/>
              </a:rPr>
              <a:t>Um enlace que sobe e cai em seguida produziria um par FORMED/NOT FORMED no console a cada oscilação. Exigir estabilidade contínua transforma o indicador em sinal de convergência, não em eco de cada evento de conexão.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39312"/>
            <a:ext cx="3617976" cy="214884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04088" y="3822191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61104"/>
            <a:ext cx="3215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5EBF33"/>
                </a:solidFill>
                <a:latin typeface="Courier New"/>
              </a:rPr>
              <a:t>*** MESH FORMED *** id=3 root=1 depth=2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5EBF33"/>
                </a:solidFill>
                <a:latin typeface="Courier New"/>
              </a:rPr>
              <a:t>    parent=1 links=2 nodes=5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ourier New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ourier New"/>
              </a:rPr>
              <a:t>STATUS id=3 links=2 root=1 depth=2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ourier New"/>
              </a:rPr>
              <a:t>    parent=1 free=3 FORMED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5488" y="3639312"/>
            <a:ext cx="3617976" cy="214884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486656" y="3822191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Anúncio 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6656" y="4261104"/>
            <a:ext cx="3215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alibri"/>
              </a:rPr>
              <a:t>Dados de fabricante 0xFEDA, byte de flags: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ourier New"/>
              </a:rPr>
              <a:t>0x01  nó de malha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ourier New"/>
              </a:rPr>
              <a:t>0x02  tem lugar na árvore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D7F20"/>
                </a:solidFill>
                <a:latin typeface="Courier New"/>
              </a:rPr>
              <a:t>0x04  rede formada  ← novo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8056" y="3639312"/>
            <a:ext cx="3617976" cy="214884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269224" y="3822191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0E36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API em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9224" y="4261104"/>
            <a:ext cx="3215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ourier New"/>
              </a:rPr>
              <a:t>bool MESH_IsNetworkFormed(void);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ourier New"/>
              </a:rPr>
              <a:t>uint8_t MESH_GetSubtreeNodeCount(void);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alibri"/>
              </a:rPr>
              <a:t>Este nó mais tudo o que é reportado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0A0B0F"/>
                </a:solidFill>
                <a:latin typeface="Calibri"/>
              </a:rPr>
              <a:t>abaixo dele na árvore.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10896"/>
            <a:ext cx="11183111" cy="713232"/>
          </a:xfrm>
        </p:spPr>
        <p:txBody>
          <a:bodyPr lIns="0" rIns="0" tIns="0" bIns="0" wrap="square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3689"/>
                </a:solidFill>
                <a:latin typeface="Calibri"/>
              </a:rPr>
              <a:t>Dimensionamento para 100 nós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12" y="6455582"/>
            <a:ext cx="386751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31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67A"/>
                </a:solidFill>
                <a:latin typeface="Calibri"/>
              </a:rPr>
              <a:t>Constantes revisadas e o custo em memória estática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7726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005840"/>
                <a:gridCol w="3337560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Constante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Antes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Depois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Motivo</a:t>
                      </a:r>
                    </a:p>
                  </a:txBody>
                  <a:tcPr marL="82296" marR="54864" marT="27432" marB="27432" anchor="ctr">
                    <a:solidFill>
                      <a:srgbClr val="0E3689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ourier New"/>
                        </a:rPr>
                        <a:t>MESH_MAX_TTL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diâmetro do grafo, não da árvore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ourier New"/>
                        </a:rPr>
                        <a:t>MESH_DUP_WINDOW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bitmap uint64_t; 32 cobria 1,6 s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ourier New"/>
                        </a:rPr>
                        <a:t>MESH_MAX_DISCOVERED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menor que os nós ao alcance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ourier New"/>
                        </a:rPr>
                        <a:t>MESH_CHILD_SUMMARY_SIZE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o 4º filho sumia do agregado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ourier New"/>
                        </a:rPr>
                        <a:t>MESH_TX_QUEUE_SIZE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rajada de comandos unicast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ourier New"/>
                        </a:rPr>
                        <a:t>MESH_LINK_TX_QUEUE_SIZE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fan-out de broadcast × 5 enlaces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ourier New"/>
                        </a:rPr>
                        <a:t>MESH_ACK_TIMEOUT_TICKS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700 ms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2000 ms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RTT real de 8 saltos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ourier New"/>
                        </a:rPr>
                        <a:t>Cadência MESH_Maintenance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1000 ms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250 ms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0B0F"/>
                          </a:solidFill>
                          <a:latin typeface="Calibri"/>
                        </a:rPr>
                        <a:t>piso da latência por salto</a:t>
                      </a:r>
                    </a:p>
                  </a:txBody>
                  <a:tcPr marL="82296" marR="54864" marT="27432" marB="27432" anchor="ctr">
                    <a:solidFill>
                      <a:srgbClr val="F1F4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481328"/>
            <a:ext cx="3136391" cy="1645920"/>
          </a:xfrm>
          <a:prstGeom prst="roundRect">
            <a:avLst>
              <a:gd name="adj" fmla="val 10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69096" y="1682495"/>
            <a:ext cx="2697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Custo em 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9096" y="2029967"/>
            <a:ext cx="269747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D7F20"/>
                </a:solidFill>
                <a:latin typeface="Calibri"/>
              </a:rPr>
              <a:t>+2 459 B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bss de 87,2 KB para 89,7 KB. Total estático de 90,4 KB em 128 KB.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3310128"/>
            <a:ext cx="3136391" cy="1737360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69096" y="3511296"/>
            <a:ext cx="2697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3689"/>
                </a:solidFill>
                <a:latin typeface="Calibri"/>
              </a:rPr>
              <a:t>REPAIR_REQUEST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9096" y="3858768"/>
            <a:ext cx="26974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A0B0F"/>
                </a:solidFill>
                <a:latin typeface="Calibri"/>
              </a:rPr>
              <a:t>Deixou de ser inundação global (TTL 2). Perder um nó de nível 1 deixa ~21 nós órfãos, e 21 inundações simultâneas seriam ~6 000 pacotes no pior momento possível.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76088"/>
            <a:ext cx="772667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3689"/>
                </a:solidFill>
                <a:latin typeface="Calibri"/>
              </a:rPr>
              <a:t>Não alterado: </a:t>
            </a:r>
            <a:r>
              <a:rPr sz="1250" b="0" i="0">
                <a:solidFill>
                  <a:srgbClr val="0A0B0F"/>
                </a:solidFill>
                <a:latin typeface="Calibri"/>
              </a:rPr>
              <a:t>a fila de eventos do app segue em 64. APP_Msg_T ocupa 260 B, então ela já consome 16,6 KB dos 40 KB de heap do FreeRTOS — aumentá-la deixaria pouco para as alocações de evento do stack BLE. O gatilho real de estouro não é o volume de anúncios, é LED_Dimmer_Identify(), que bloqueia a task do app por 3 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6_Office Theme">
  <a:themeElements>
    <a:clrScheme name="Event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94F90"/>
      </a:accent1>
      <a:accent2>
        <a:srgbClr val="41B6E6"/>
      </a:accent2>
      <a:accent3>
        <a:srgbClr val="DA281C"/>
      </a:accent3>
      <a:accent4>
        <a:srgbClr val="F68D2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CU32 32-bit Roadmap and office Update  Aug 2022 v1.2 For NDA Customer only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>
            <a:lumMod val="85000"/>
          </a:schemeClr>
        </a:solidFill>
        <a:ln w="76200">
          <a:solidFill>
            <a:srgbClr val="C0000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0"/>
          </a:lightRig>
        </a:scene3d>
        <a:sp3d>
          <a:bevelT w="63500" h="25400" prst="relaxedInset"/>
          <a:bevelB/>
        </a:sp3d>
      </a:spPr>
      <a:bodyPr lIns="91440" rIns="0" anchor="ctr"/>
      <a:lstStyle>
        <a:defPPr algn="l" fontAlgn="base">
          <a:spcBef>
            <a:spcPct val="0"/>
          </a:spcBef>
          <a:spcAft>
            <a:spcPct val="0"/>
          </a:spcAft>
          <a:defRPr sz="1200" b="1" dirty="0">
            <a:solidFill>
              <a:srgbClr val="000000"/>
            </a:solidFill>
          </a:defRPr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3_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CHP-Corporate PowerPointTemplate-16x9-2020.pptx" id="{4E21FF55-8B5E-487B-A0A8-561785F08682}" vid="{8700C8ED-64FF-495B-AED4-67DDCB9B3FD1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9466</TotalTime>
  <Words>27</Words>
  <Application>Microsoft Office PowerPoint</Application>
  <PresentationFormat>Widescreen</PresentationFormat>
  <Paragraphs>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Courier New</vt:lpstr>
      <vt:lpstr>Wingdings</vt:lpstr>
      <vt:lpstr>5_Office Theme</vt:lpstr>
      <vt:lpstr>6_Office Theme</vt:lpstr>
      <vt:lpstr>MCU32 32-bit Roadmap and office Update  Aug 2022 v1.2 For NDA Customer only</vt:lpstr>
      <vt:lpstr>Office Theme</vt:lpstr>
      <vt:lpstr>3_Office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MCU32 AI/ML Overview</dc:title>
  <dc:creator>rodrigo britto</dc:creator>
  <cp:lastModifiedBy>rodrigo britto</cp:lastModifiedBy>
  <cp:revision>27</cp:revision>
  <cp:lastPrinted>2025-10-29T11:19:31Z</cp:lastPrinted>
  <dcterms:created xsi:type="dcterms:W3CDTF">2022-09-28T11:11:56Z</dcterms:created>
  <dcterms:modified xsi:type="dcterms:W3CDTF">2026-08-02T11:36:07Z</dcterms:modified>
</cp:coreProperties>
</file>